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  <p:sldId id="2574" r:id="rId13"/>
    <p:sldId id="2575" r:id="rId14"/>
    <p:sldId id="2576" r:id="rId15"/>
    <p:sldId id="2577" r:id="rId16"/>
    <p:sldId id="2578" r:id="rId17"/>
    <p:sldId id="2579" r:id="rId18"/>
    <p:sldId id="2581" r:id="rId19"/>
    <p:sldId id="2586" r:id="rId20"/>
    <p:sldId id="2585" r:id="rId21"/>
    <p:sldId id="2587" r:id="rId22"/>
    <p:sldId id="2588" r:id="rId23"/>
    <p:sldId id="2589" r:id="rId24"/>
    <p:sldId id="2591" r:id="rId25"/>
    <p:sldId id="2592" r:id="rId2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lasificación técnica de conexiones sospechosas mediante SVM, Árboles de Decisión y Random Forest" id="{2F3A2788-1D4D-4640-A6A2-545E8A1F0AEC}">
          <p14:sldIdLst>
            <p14:sldId id="256"/>
            <p14:sldId id="2562"/>
          </p14:sldIdLst>
        </p14:section>
        <p14:section name="Contexto y objetivo del proyecto" id="{D15118B9-9A49-4DFC-ACAB-DCD8C358D8EB}">
          <p14:sldIdLst>
            <p14:sldId id="2563"/>
            <p14:sldId id="2564"/>
            <p14:sldId id="2565"/>
          </p14:sldIdLst>
        </p14:section>
        <p14:section name="Análisis exploratorio de datos (EDA)" id="{15B12C12-8270-44B5-B840-FA4B997A4B75}">
          <p14:sldIdLst>
            <p14:sldId id="2566"/>
            <p14:sldId id="2567"/>
            <p14:sldId id="2568"/>
            <p14:sldId id="2569"/>
          </p14:sldIdLst>
        </p14:section>
        <p14:section name="Preprocesamiento de datos y pipeline de transformación" id="{9031A180-72E4-4D94-82A6-D15F712E3E28}">
          <p14:sldIdLst>
            <p14:sldId id="2570"/>
            <p14:sldId id="2571"/>
          </p14:sldIdLst>
        </p14:section>
        <p14:section name="Modelos implementados y resultados" id="{699F1187-2F7C-454E-A288-337654E80C7C}">
          <p14:sldIdLst>
            <p14:sldId id="2574"/>
            <p14:sldId id="2575"/>
            <p14:sldId id="2576"/>
            <p14:sldId id="2577"/>
            <p14:sldId id="2578"/>
          </p14:sldIdLst>
        </p14:section>
        <p14:section name="Comparación experimental de modelos" id="{5E3139E0-3C46-48E8-B9A6-88F43CE731C4}">
          <p14:sldIdLst>
            <p14:sldId id="2579"/>
            <p14:sldId id="2581"/>
          </p14:sldIdLst>
        </p14:section>
        <p14:section name="Hallazgos clave y análisis crítico" id="{8275305F-4C23-47BF-B73D-435B654BD0E0}">
          <p14:sldIdLst>
            <p14:sldId id="2586"/>
            <p14:sldId id="2585"/>
            <p14:sldId id="2587"/>
            <p14:sldId id="2588"/>
          </p14:sldIdLst>
        </p14:section>
        <p14:section name="Conclusiones y recomendaciones" id="{21138A8D-41D2-4977-89DF-37F11C8791DD}">
          <p14:sldIdLst>
            <p14:sldId id="2589"/>
            <p14:sldId id="2591"/>
            <p14:sldId id="2592"/>
          </p14:sldIdLst>
        </p14:section>
        <p14:section name="Resumen y cierre" id="{166DA64D-F7B4-4228-8E30-EFC458B71B5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660C95-C295-45B4-9CA0-D5A4BA76D85A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s-EC"/>
        </a:p>
      </dgm:t>
    </dgm:pt>
    <dgm:pt modelId="{734A37FB-829B-4733-97F4-A9F37C6841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C" dirty="0"/>
            <a:t>Clase "</a:t>
          </a:r>
          <a:r>
            <a:rPr lang="es-EC" dirty="0" err="1"/>
            <a:t>Unknown</a:t>
          </a:r>
          <a:r>
            <a:rPr lang="es-EC" dirty="0"/>
            <a:t>" Desafiante</a:t>
          </a:r>
        </a:p>
      </dgm:t>
    </dgm:pt>
    <dgm:pt modelId="{F5765C3F-6AEA-4347-A39D-32FC78868445}" type="parTrans" cxnId="{8ABE5DFC-FF50-49B4-A06B-975044256AA2}">
      <dgm:prSet/>
      <dgm:spPr/>
      <dgm:t>
        <a:bodyPr/>
        <a:lstStyle/>
        <a:p>
          <a:endParaRPr lang="es-EC"/>
        </a:p>
      </dgm:t>
    </dgm:pt>
    <dgm:pt modelId="{2D7CEDC8-065D-49C8-92EF-32556D2100B6}" type="sibTrans" cxnId="{8ABE5DFC-FF50-49B4-A06B-975044256AA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s-EC"/>
        </a:p>
      </dgm:t>
    </dgm:pt>
    <dgm:pt modelId="{7A865770-AAEC-4C8F-81E0-D6A4362B8CE8}">
      <dgm:prSet/>
      <dgm:spPr/>
      <dgm:t>
        <a:bodyPr/>
        <a:lstStyle/>
        <a:p>
          <a:pPr>
            <a:lnSpc>
              <a:spcPct val="100000"/>
            </a:lnSpc>
          </a:pPr>
          <a:r>
            <a:rPr lang="es-EC" dirty="0"/>
            <a:t>La clase '</a:t>
          </a:r>
          <a:r>
            <a:rPr lang="es-EC" dirty="0" err="1"/>
            <a:t>Unknown</a:t>
          </a:r>
          <a:r>
            <a:rPr lang="es-EC" dirty="0"/>
            <a:t>' presenta mayor tasa de error y comparte características con '</a:t>
          </a:r>
          <a:r>
            <a:rPr lang="es-EC" dirty="0" err="1"/>
            <a:t>suspicious</a:t>
          </a:r>
          <a:r>
            <a:rPr lang="es-EC" dirty="0"/>
            <a:t>'. Se requieren </a:t>
          </a:r>
          <a:r>
            <a:rPr lang="es-EC" dirty="0" err="1"/>
            <a:t>features</a:t>
          </a:r>
          <a:r>
            <a:rPr lang="es-EC" dirty="0"/>
            <a:t> adicionales para mejorar la separación.</a:t>
          </a:r>
        </a:p>
      </dgm:t>
    </dgm:pt>
    <dgm:pt modelId="{00543FDD-2322-4FCB-A320-1E070B90102E}" type="parTrans" cxnId="{909ED325-C3D2-4E85-9176-FBD177C7946A}">
      <dgm:prSet/>
      <dgm:spPr/>
      <dgm:t>
        <a:bodyPr/>
        <a:lstStyle/>
        <a:p>
          <a:endParaRPr lang="es-EC"/>
        </a:p>
      </dgm:t>
    </dgm:pt>
    <dgm:pt modelId="{1DB732AE-F0F2-4523-81DC-1C7415E19328}" type="sibTrans" cxnId="{909ED325-C3D2-4E85-9176-FBD177C7946A}">
      <dgm:prSet/>
      <dgm:spPr/>
      <dgm:t>
        <a:bodyPr/>
        <a:lstStyle/>
        <a:p>
          <a:endParaRPr lang="es-EC"/>
        </a:p>
      </dgm:t>
    </dgm:pt>
    <dgm:pt modelId="{A497D74A-AE04-4335-8FA8-CBD6AAAD3A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C"/>
            <a:t>Dependencia de IPs</a:t>
          </a:r>
        </a:p>
      </dgm:t>
    </dgm:pt>
    <dgm:pt modelId="{CE752373-E75F-4724-A974-E8CB7D1B35B4}" type="parTrans" cxnId="{EF9792AC-9BF1-472C-8B9F-1626F5D1E739}">
      <dgm:prSet/>
      <dgm:spPr/>
      <dgm:t>
        <a:bodyPr/>
        <a:lstStyle/>
        <a:p>
          <a:endParaRPr lang="es-EC"/>
        </a:p>
      </dgm:t>
    </dgm:pt>
    <dgm:pt modelId="{0CF65D6B-C55C-4B54-82D2-64DDE3176346}" type="sibTrans" cxnId="{EF9792AC-9BF1-472C-8B9F-1626F5D1E73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s-EC"/>
        </a:p>
      </dgm:t>
    </dgm:pt>
    <dgm:pt modelId="{E68E5BAF-DE9A-47C9-9555-35346C477624}">
      <dgm:prSet/>
      <dgm:spPr/>
      <dgm:t>
        <a:bodyPr/>
        <a:lstStyle/>
        <a:p>
          <a:pPr>
            <a:lnSpc>
              <a:spcPct val="100000"/>
            </a:lnSpc>
          </a:pPr>
          <a:r>
            <a:rPr lang="es-EC" dirty="0"/>
            <a:t>El modelo puede </a:t>
          </a:r>
          <a:r>
            <a:rPr lang="es-EC" dirty="0" err="1"/>
            <a:t>sobre-aprender</a:t>
          </a:r>
          <a:r>
            <a:rPr lang="es-EC" dirty="0"/>
            <a:t> </a:t>
          </a:r>
          <a:r>
            <a:rPr lang="es-EC" dirty="0" err="1"/>
            <a:t>IPs</a:t>
          </a:r>
          <a:r>
            <a:rPr lang="es-EC" dirty="0"/>
            <a:t> específicas del entrenamiento, dificultando el reconocimiento de nuevas </a:t>
          </a:r>
          <a:r>
            <a:rPr lang="es-EC" dirty="0" err="1"/>
            <a:t>IPs</a:t>
          </a:r>
          <a:r>
            <a:rPr lang="es-EC" dirty="0"/>
            <a:t> atacantes en producción.</a:t>
          </a:r>
        </a:p>
      </dgm:t>
    </dgm:pt>
    <dgm:pt modelId="{9CC7826B-C9B1-4547-B12E-4D52984B0FB3}" type="parTrans" cxnId="{73AE2AD0-463A-4C26-B79E-A6FC276D6174}">
      <dgm:prSet/>
      <dgm:spPr/>
      <dgm:t>
        <a:bodyPr/>
        <a:lstStyle/>
        <a:p>
          <a:endParaRPr lang="es-EC"/>
        </a:p>
      </dgm:t>
    </dgm:pt>
    <dgm:pt modelId="{96584372-8BE8-4FDC-B6D6-75BB9476DA16}" type="sibTrans" cxnId="{73AE2AD0-463A-4C26-B79E-A6FC276D6174}">
      <dgm:prSet/>
      <dgm:spPr/>
      <dgm:t>
        <a:bodyPr/>
        <a:lstStyle/>
        <a:p>
          <a:endParaRPr lang="es-EC"/>
        </a:p>
      </dgm:t>
    </dgm:pt>
    <dgm:pt modelId="{D3BBC562-AEA6-4D25-9EC9-85CDFE903E1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C"/>
            <a:t>Interpretabilidad vs Performance</a:t>
          </a:r>
        </a:p>
      </dgm:t>
    </dgm:pt>
    <dgm:pt modelId="{245C5CAD-7C85-4EA5-9B9C-2367F2DC1E41}" type="parTrans" cxnId="{7181CF99-D822-4BD6-8FD8-F9CFAA90F1D1}">
      <dgm:prSet/>
      <dgm:spPr/>
      <dgm:t>
        <a:bodyPr/>
        <a:lstStyle/>
        <a:p>
          <a:endParaRPr lang="es-EC"/>
        </a:p>
      </dgm:t>
    </dgm:pt>
    <dgm:pt modelId="{F075DF53-3061-41D3-870E-54C8788C173E}" type="sibTrans" cxnId="{7181CF99-D822-4BD6-8FD8-F9CFAA90F1D1}">
      <dgm:prSet/>
      <dgm:spPr/>
      <dgm:t>
        <a:bodyPr/>
        <a:lstStyle/>
        <a:p>
          <a:endParaRPr lang="es-EC"/>
        </a:p>
      </dgm:t>
    </dgm:pt>
    <dgm:pt modelId="{D64B959E-089A-41AB-95E3-500D032DC8B3}">
      <dgm:prSet/>
      <dgm:spPr/>
      <dgm:t>
        <a:bodyPr/>
        <a:lstStyle/>
        <a:p>
          <a:pPr>
            <a:lnSpc>
              <a:spcPct val="100000"/>
            </a:lnSpc>
          </a:pPr>
          <a:r>
            <a:rPr lang="es-EC"/>
            <a:t>Random Forest tiene alto rendimiento pero es menos interpretable; SHAP values ayudan a explicar predicciones.</a:t>
          </a:r>
        </a:p>
      </dgm:t>
    </dgm:pt>
    <dgm:pt modelId="{3148FFE8-3573-4FAE-AB6F-21ABE8F73B66}" type="parTrans" cxnId="{9645CA34-44FD-429F-88EE-B16D3A29F62E}">
      <dgm:prSet/>
      <dgm:spPr/>
      <dgm:t>
        <a:bodyPr/>
        <a:lstStyle/>
        <a:p>
          <a:endParaRPr lang="es-EC"/>
        </a:p>
      </dgm:t>
    </dgm:pt>
    <dgm:pt modelId="{9D93D24B-567C-454F-9C31-5983C6749FC5}" type="sibTrans" cxnId="{9645CA34-44FD-429F-88EE-B16D3A29F62E}">
      <dgm:prSet/>
      <dgm:spPr/>
      <dgm:t>
        <a:bodyPr/>
        <a:lstStyle/>
        <a:p>
          <a:endParaRPr lang="es-EC"/>
        </a:p>
      </dgm:t>
    </dgm:pt>
    <dgm:pt modelId="{869ACD7B-E26B-4938-BEFF-BD496EC070E5}" type="pres">
      <dgm:prSet presAssocID="{B6660C95-C295-45B4-9CA0-D5A4BA76D85A}" presName="Root" presStyleCnt="0">
        <dgm:presLayoutVars>
          <dgm:dir/>
          <dgm:resizeHandles val="exact"/>
        </dgm:presLayoutVars>
      </dgm:prSet>
      <dgm:spPr/>
    </dgm:pt>
    <dgm:pt modelId="{62DD8059-62EE-444F-88C5-FD9BD7143214}" type="pres">
      <dgm:prSet presAssocID="{734A37FB-829B-4733-97F4-A9F37C684170}" presName="Composite" presStyleCnt="0"/>
      <dgm:spPr/>
    </dgm:pt>
    <dgm:pt modelId="{CF72E6C4-1793-479B-ACAE-31500B912C4C}" type="pres">
      <dgm:prSet presAssocID="{734A37FB-829B-4733-97F4-A9F37C684170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9" r="3" b="3"/>
          <a:stretch/>
        </a:blipFill>
      </dgm:spPr>
      <dgm:extLst>
        <a:ext uri="{E40237B7-FDA0-4F09-8148-C483321AD2D9}">
          <dgm14:cNvPr xmlns:dgm14="http://schemas.microsoft.com/office/drawing/2010/diagram" id="0" name="" descr="código binario de programa abstracto y cubo de matriz de colores Base de datos"/>
        </a:ext>
      </dgm:extLst>
    </dgm:pt>
    <dgm:pt modelId="{A28C3FB5-3488-48B0-922B-19EE3A9DFEDD}" type="pres">
      <dgm:prSet presAssocID="{734A37FB-829B-4733-97F4-A9F37C684170}" presName="Subtitle" presStyleLbl="revTx" presStyleIdx="0" presStyleCnt="6">
        <dgm:presLayoutVars>
          <dgm:chMax val="0"/>
          <dgm:bulletEnabled/>
        </dgm:presLayoutVars>
      </dgm:prSet>
      <dgm:spPr/>
    </dgm:pt>
    <dgm:pt modelId="{C33C8D58-A28A-4126-B45B-667198D6C249}" type="pres">
      <dgm:prSet presAssocID="{734A37FB-829B-4733-97F4-A9F37C684170}" presName="Description" presStyleLbl="revTx" presStyleIdx="1" presStyleCnt="6">
        <dgm:presLayoutVars>
          <dgm:bulletEnabled/>
        </dgm:presLayoutVars>
      </dgm:prSet>
      <dgm:spPr/>
    </dgm:pt>
    <dgm:pt modelId="{43A6F92A-0898-43EA-BB14-6EAB06117886}" type="pres">
      <dgm:prSet presAssocID="{2D7CEDC8-065D-49C8-92EF-32556D2100B6}" presName="sibTrans" presStyleLbl="sibTrans2D1" presStyleIdx="0" presStyleCnt="0"/>
      <dgm:spPr/>
    </dgm:pt>
    <dgm:pt modelId="{210B017C-0DFD-4BD0-940F-4E9C92262664}" type="pres">
      <dgm:prSet presAssocID="{A497D74A-AE04-4335-8FA8-CBD6AAAD3A7E}" presName="Composite" presStyleCnt="0"/>
      <dgm:spPr/>
    </dgm:pt>
    <dgm:pt modelId="{C1DAC70E-8493-43FB-908B-39E0C0D07578}" type="pres">
      <dgm:prSet presAssocID="{A497D74A-AE04-4335-8FA8-CBD6AAAD3A7E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8" r="5807" b="-6"/>
          <a:stretch/>
        </a:blipFill>
      </dgm:spPr>
      <dgm:extLst>
        <a:ext uri="{E40237B7-FDA0-4F09-8148-C483321AD2D9}">
          <dgm14:cNvPr xmlns:dgm14="http://schemas.microsoft.com/office/drawing/2010/diagram" id="0" name="" descr="Fondo 3d de seguridad personal de personas cibernéticas"/>
        </a:ext>
      </dgm:extLst>
    </dgm:pt>
    <dgm:pt modelId="{34C4610E-52F0-4AEA-A34F-DB548D0B8AFD}" type="pres">
      <dgm:prSet presAssocID="{A497D74A-AE04-4335-8FA8-CBD6AAAD3A7E}" presName="Subtitle" presStyleLbl="revTx" presStyleIdx="2" presStyleCnt="6">
        <dgm:presLayoutVars>
          <dgm:chMax val="0"/>
          <dgm:bulletEnabled/>
        </dgm:presLayoutVars>
      </dgm:prSet>
      <dgm:spPr/>
    </dgm:pt>
    <dgm:pt modelId="{C708666D-F6EC-496D-A79F-03C0FCD24B0D}" type="pres">
      <dgm:prSet presAssocID="{A497D74A-AE04-4335-8FA8-CBD6AAAD3A7E}" presName="Description" presStyleLbl="revTx" presStyleIdx="3" presStyleCnt="6">
        <dgm:presLayoutVars>
          <dgm:bulletEnabled/>
        </dgm:presLayoutVars>
      </dgm:prSet>
      <dgm:spPr/>
    </dgm:pt>
    <dgm:pt modelId="{822B2228-BDC4-482A-AD12-E5D5FAD0CA84}" type="pres">
      <dgm:prSet presAssocID="{0CF65D6B-C55C-4B54-82D2-64DDE3176346}" presName="sibTrans" presStyleLbl="sibTrans2D1" presStyleIdx="0" presStyleCnt="0"/>
      <dgm:spPr/>
    </dgm:pt>
    <dgm:pt modelId="{463E6C6E-6BA7-4F89-8A39-2C7405C95D08}" type="pres">
      <dgm:prSet presAssocID="{D3BBC562-AEA6-4D25-9EC9-85CDFE903E14}" presName="Composite" presStyleCnt="0"/>
      <dgm:spPr/>
    </dgm:pt>
    <dgm:pt modelId="{6A36B468-F4CC-4709-B69A-DFC9A55861AE}" type="pres">
      <dgm:prSet presAssocID="{D3BBC562-AEA6-4D25-9EC9-85CDFE903E14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49" b="-2"/>
          <a:stretch/>
        </a:blipFill>
      </dgm:spPr>
      <dgm:extLst>
        <a:ext uri="{E40237B7-FDA0-4F09-8148-C483321AD2D9}">
          <dgm14:cNvPr xmlns:dgm14="http://schemas.microsoft.com/office/drawing/2010/diagram" id="0" name="" descr="Maniquí de madera en la parte superior luciendo orgulloso en el cielo o en el futuro"/>
        </a:ext>
      </dgm:extLst>
    </dgm:pt>
    <dgm:pt modelId="{D5CED0C8-1810-4DC6-AD46-5911C8008095}" type="pres">
      <dgm:prSet presAssocID="{D3BBC562-AEA6-4D25-9EC9-85CDFE903E14}" presName="Subtitle" presStyleLbl="revTx" presStyleIdx="4" presStyleCnt="6">
        <dgm:presLayoutVars>
          <dgm:chMax val="0"/>
          <dgm:bulletEnabled/>
        </dgm:presLayoutVars>
      </dgm:prSet>
      <dgm:spPr/>
    </dgm:pt>
    <dgm:pt modelId="{BAA6CC25-592A-4C81-8CA8-868A5B2BD558}" type="pres">
      <dgm:prSet presAssocID="{D3BBC562-AEA6-4D25-9EC9-85CDFE903E14}" presName="Description" presStyleLbl="revTx" presStyleIdx="5" presStyleCnt="6">
        <dgm:presLayoutVars>
          <dgm:bulletEnabled/>
        </dgm:presLayoutVars>
      </dgm:prSet>
      <dgm:spPr/>
    </dgm:pt>
  </dgm:ptLst>
  <dgm:cxnLst>
    <dgm:cxn modelId="{69789E19-1D4A-42D8-89C4-5496510DA53E}" type="presOf" srcId="{734A37FB-829B-4733-97F4-A9F37C684170}" destId="{A28C3FB5-3488-48B0-922B-19EE3A9DFEDD}" srcOrd="0" destOrd="0" presId="urn:microsoft.com/office/officeart/2024/3/layout/verticalVisualTextBlock1"/>
    <dgm:cxn modelId="{52CC651E-F1A9-4B55-BAD4-F6B140743664}" type="presOf" srcId="{E68E5BAF-DE9A-47C9-9555-35346C477624}" destId="{C708666D-F6EC-496D-A79F-03C0FCD24B0D}" srcOrd="0" destOrd="0" presId="urn:microsoft.com/office/officeart/2024/3/layout/verticalVisualTextBlock1"/>
    <dgm:cxn modelId="{909ED325-C3D2-4E85-9176-FBD177C7946A}" srcId="{734A37FB-829B-4733-97F4-A9F37C684170}" destId="{7A865770-AAEC-4C8F-81E0-D6A4362B8CE8}" srcOrd="0" destOrd="0" parTransId="{00543FDD-2322-4FCB-A320-1E070B90102E}" sibTransId="{1DB732AE-F0F2-4523-81DC-1C7415E19328}"/>
    <dgm:cxn modelId="{055A2E2F-EB18-437B-8832-D32C47BD6407}" type="presOf" srcId="{D64B959E-089A-41AB-95E3-500D032DC8B3}" destId="{BAA6CC25-592A-4C81-8CA8-868A5B2BD558}" srcOrd="0" destOrd="0" presId="urn:microsoft.com/office/officeart/2024/3/layout/verticalVisualTextBlock1"/>
    <dgm:cxn modelId="{9645CA34-44FD-429F-88EE-B16D3A29F62E}" srcId="{D3BBC562-AEA6-4D25-9EC9-85CDFE903E14}" destId="{D64B959E-089A-41AB-95E3-500D032DC8B3}" srcOrd="0" destOrd="0" parTransId="{3148FFE8-3573-4FAE-AB6F-21ABE8F73B66}" sibTransId="{9D93D24B-567C-454F-9C31-5983C6749FC5}"/>
    <dgm:cxn modelId="{DD34B352-190D-4A58-B56F-A8A4F503D899}" type="presOf" srcId="{B6660C95-C295-45B4-9CA0-D5A4BA76D85A}" destId="{869ACD7B-E26B-4938-BEFF-BD496EC070E5}" srcOrd="0" destOrd="0" presId="urn:microsoft.com/office/officeart/2024/3/layout/verticalVisualTextBlock1"/>
    <dgm:cxn modelId="{54819975-A405-47C0-9A0B-B8AE596E7803}" type="presOf" srcId="{2D7CEDC8-065D-49C8-92EF-32556D2100B6}" destId="{43A6F92A-0898-43EA-BB14-6EAB06117886}" srcOrd="0" destOrd="0" presId="urn:microsoft.com/office/officeart/2024/3/layout/verticalVisualTextBlock1"/>
    <dgm:cxn modelId="{7181CF99-D822-4BD6-8FD8-F9CFAA90F1D1}" srcId="{B6660C95-C295-45B4-9CA0-D5A4BA76D85A}" destId="{D3BBC562-AEA6-4D25-9EC9-85CDFE903E14}" srcOrd="2" destOrd="0" parTransId="{245C5CAD-7C85-4EA5-9B9C-2367F2DC1E41}" sibTransId="{F075DF53-3061-41D3-870E-54C8788C173E}"/>
    <dgm:cxn modelId="{C1E1A7A8-5359-4155-94B5-01B6D3C4A87C}" type="presOf" srcId="{7A865770-AAEC-4C8F-81E0-D6A4362B8CE8}" destId="{C33C8D58-A28A-4126-B45B-667198D6C249}" srcOrd="0" destOrd="0" presId="urn:microsoft.com/office/officeart/2024/3/layout/verticalVisualTextBlock1"/>
    <dgm:cxn modelId="{EF9792AC-9BF1-472C-8B9F-1626F5D1E739}" srcId="{B6660C95-C295-45B4-9CA0-D5A4BA76D85A}" destId="{A497D74A-AE04-4335-8FA8-CBD6AAAD3A7E}" srcOrd="1" destOrd="0" parTransId="{CE752373-E75F-4724-A974-E8CB7D1B35B4}" sibTransId="{0CF65D6B-C55C-4B54-82D2-64DDE3176346}"/>
    <dgm:cxn modelId="{7761ECB0-DCC2-4BFB-B982-4AA5362935AC}" type="presOf" srcId="{D3BBC562-AEA6-4D25-9EC9-85CDFE903E14}" destId="{D5CED0C8-1810-4DC6-AD46-5911C8008095}" srcOrd="0" destOrd="0" presId="urn:microsoft.com/office/officeart/2024/3/layout/verticalVisualTextBlock1"/>
    <dgm:cxn modelId="{77B26BB9-2C91-41B5-805A-F1DEB00C4758}" type="presOf" srcId="{A497D74A-AE04-4335-8FA8-CBD6AAAD3A7E}" destId="{34C4610E-52F0-4AEA-A34F-DB548D0B8AFD}" srcOrd="0" destOrd="0" presId="urn:microsoft.com/office/officeart/2024/3/layout/verticalVisualTextBlock1"/>
    <dgm:cxn modelId="{630EF5C9-A1C5-4F7E-BB3F-94751126800A}" type="presOf" srcId="{0CF65D6B-C55C-4B54-82D2-64DDE3176346}" destId="{822B2228-BDC4-482A-AD12-E5D5FAD0CA84}" srcOrd="0" destOrd="0" presId="urn:microsoft.com/office/officeart/2024/3/layout/verticalVisualTextBlock1"/>
    <dgm:cxn modelId="{73AE2AD0-463A-4C26-B79E-A6FC276D6174}" srcId="{A497D74A-AE04-4335-8FA8-CBD6AAAD3A7E}" destId="{E68E5BAF-DE9A-47C9-9555-35346C477624}" srcOrd="0" destOrd="0" parTransId="{9CC7826B-C9B1-4547-B12E-4D52984B0FB3}" sibTransId="{96584372-8BE8-4FDC-B6D6-75BB9476DA16}"/>
    <dgm:cxn modelId="{8ABE5DFC-FF50-49B4-A06B-975044256AA2}" srcId="{B6660C95-C295-45B4-9CA0-D5A4BA76D85A}" destId="{734A37FB-829B-4733-97F4-A9F37C684170}" srcOrd="0" destOrd="0" parTransId="{F5765C3F-6AEA-4347-A39D-32FC78868445}" sibTransId="{2D7CEDC8-065D-49C8-92EF-32556D2100B6}"/>
    <dgm:cxn modelId="{42109E7D-2067-4CF6-893E-5F0B52CF55DE}" type="presParOf" srcId="{869ACD7B-E26B-4938-BEFF-BD496EC070E5}" destId="{62DD8059-62EE-444F-88C5-FD9BD7143214}" srcOrd="0" destOrd="0" presId="urn:microsoft.com/office/officeart/2024/3/layout/verticalVisualTextBlock1"/>
    <dgm:cxn modelId="{4773950C-30C0-409E-9FF3-CEEBEC05E0A9}" type="presParOf" srcId="{62DD8059-62EE-444F-88C5-FD9BD7143214}" destId="{CF72E6C4-1793-479B-ACAE-31500B912C4C}" srcOrd="0" destOrd="0" presId="urn:microsoft.com/office/officeart/2024/3/layout/verticalVisualTextBlock1"/>
    <dgm:cxn modelId="{7E62ACD2-2D9A-4A28-B5A6-17E08398E980}" type="presParOf" srcId="{62DD8059-62EE-444F-88C5-FD9BD7143214}" destId="{A28C3FB5-3488-48B0-922B-19EE3A9DFEDD}" srcOrd="1" destOrd="0" presId="urn:microsoft.com/office/officeart/2024/3/layout/verticalVisualTextBlock1"/>
    <dgm:cxn modelId="{4ABF3D00-6856-4A28-B7E4-F4BCD346D299}" type="presParOf" srcId="{62DD8059-62EE-444F-88C5-FD9BD7143214}" destId="{C33C8D58-A28A-4126-B45B-667198D6C249}" srcOrd="2" destOrd="0" presId="urn:microsoft.com/office/officeart/2024/3/layout/verticalVisualTextBlock1"/>
    <dgm:cxn modelId="{7773EC81-D1B3-4A20-8B51-3DA68A4A884D}" type="presParOf" srcId="{869ACD7B-E26B-4938-BEFF-BD496EC070E5}" destId="{43A6F92A-0898-43EA-BB14-6EAB06117886}" srcOrd="1" destOrd="0" presId="urn:microsoft.com/office/officeart/2024/3/layout/verticalVisualTextBlock1"/>
    <dgm:cxn modelId="{B817E6B2-266F-4404-B37B-158EFB667DCC}" type="presParOf" srcId="{869ACD7B-E26B-4938-BEFF-BD496EC070E5}" destId="{210B017C-0DFD-4BD0-940F-4E9C92262664}" srcOrd="2" destOrd="0" presId="urn:microsoft.com/office/officeart/2024/3/layout/verticalVisualTextBlock1"/>
    <dgm:cxn modelId="{1ECF3CF9-1DA9-4830-9D5B-9F835E69A15E}" type="presParOf" srcId="{210B017C-0DFD-4BD0-940F-4E9C92262664}" destId="{C1DAC70E-8493-43FB-908B-39E0C0D07578}" srcOrd="0" destOrd="0" presId="urn:microsoft.com/office/officeart/2024/3/layout/verticalVisualTextBlock1"/>
    <dgm:cxn modelId="{BEA49F64-5139-4044-8B97-7A016555A104}" type="presParOf" srcId="{210B017C-0DFD-4BD0-940F-4E9C92262664}" destId="{34C4610E-52F0-4AEA-A34F-DB548D0B8AFD}" srcOrd="1" destOrd="0" presId="urn:microsoft.com/office/officeart/2024/3/layout/verticalVisualTextBlock1"/>
    <dgm:cxn modelId="{DABD4A6C-F532-45F3-AEFC-418AF8E64201}" type="presParOf" srcId="{210B017C-0DFD-4BD0-940F-4E9C92262664}" destId="{C708666D-F6EC-496D-A79F-03C0FCD24B0D}" srcOrd="2" destOrd="0" presId="urn:microsoft.com/office/officeart/2024/3/layout/verticalVisualTextBlock1"/>
    <dgm:cxn modelId="{5C730332-1D68-4998-B2D5-B4C6EC51F436}" type="presParOf" srcId="{869ACD7B-E26B-4938-BEFF-BD496EC070E5}" destId="{822B2228-BDC4-482A-AD12-E5D5FAD0CA84}" srcOrd="3" destOrd="0" presId="urn:microsoft.com/office/officeart/2024/3/layout/verticalVisualTextBlock1"/>
    <dgm:cxn modelId="{EDC9F879-8FA4-45E9-9CA6-8A743A24C55F}" type="presParOf" srcId="{869ACD7B-E26B-4938-BEFF-BD496EC070E5}" destId="{463E6C6E-6BA7-4F89-8A39-2C7405C95D08}" srcOrd="4" destOrd="0" presId="urn:microsoft.com/office/officeart/2024/3/layout/verticalVisualTextBlock1"/>
    <dgm:cxn modelId="{9241D15E-21CD-42CB-BDCF-E8B2A4215B0C}" type="presParOf" srcId="{463E6C6E-6BA7-4F89-8A39-2C7405C95D08}" destId="{6A36B468-F4CC-4709-B69A-DFC9A55861AE}" srcOrd="0" destOrd="0" presId="urn:microsoft.com/office/officeart/2024/3/layout/verticalVisualTextBlock1"/>
    <dgm:cxn modelId="{DFAB3D79-6E5C-458D-A94A-008C68B34AD1}" type="presParOf" srcId="{463E6C6E-6BA7-4F89-8A39-2C7405C95D08}" destId="{D5CED0C8-1810-4DC6-AD46-5911C8008095}" srcOrd="1" destOrd="0" presId="urn:microsoft.com/office/officeart/2024/3/layout/verticalVisualTextBlock1"/>
    <dgm:cxn modelId="{9F502A3F-1E0D-4297-85B1-0FB5FDA3F19C}" type="presParOf" srcId="{463E6C6E-6BA7-4F89-8A39-2C7405C95D08}" destId="{BAA6CC25-592A-4C81-8CA8-868A5B2BD558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2E6C4-1793-479B-ACAE-31500B912C4C}">
      <dsp:nvSpPr>
        <dsp:cNvPr id="0" name=""/>
        <dsp:cNvSpPr/>
      </dsp:nvSpPr>
      <dsp:spPr>
        <a:xfrm>
          <a:off x="0" y="0"/>
          <a:ext cx="1681599" cy="1681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9" r="3" b="3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8C3FB5-3488-48B0-922B-19EE3A9DFEDD}">
      <dsp:nvSpPr>
        <dsp:cNvPr id="0" name=""/>
        <dsp:cNvSpPr/>
      </dsp:nvSpPr>
      <dsp:spPr>
        <a:xfrm>
          <a:off x="1861599" y="0"/>
          <a:ext cx="5167674" cy="3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C" sz="1800" kern="1200" dirty="0"/>
            <a:t>Clase "</a:t>
          </a:r>
          <a:r>
            <a:rPr lang="es-EC" sz="1800" kern="1200" dirty="0" err="1"/>
            <a:t>Unknown</a:t>
          </a:r>
          <a:r>
            <a:rPr lang="es-EC" sz="1800" kern="1200" dirty="0"/>
            <a:t>" Desafiante</a:t>
          </a:r>
        </a:p>
      </dsp:txBody>
      <dsp:txXfrm>
        <a:off x="1861599" y="0"/>
        <a:ext cx="5167674" cy="346182"/>
      </dsp:txXfrm>
    </dsp:sp>
    <dsp:sp modelId="{C33C8D58-A28A-4126-B45B-667198D6C249}">
      <dsp:nvSpPr>
        <dsp:cNvPr id="0" name=""/>
        <dsp:cNvSpPr/>
      </dsp:nvSpPr>
      <dsp:spPr>
        <a:xfrm>
          <a:off x="1861599" y="346182"/>
          <a:ext cx="5167674" cy="1335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400" kern="1200" dirty="0"/>
            <a:t>La clase '</a:t>
          </a:r>
          <a:r>
            <a:rPr lang="es-EC" sz="1400" kern="1200" dirty="0" err="1"/>
            <a:t>Unknown</a:t>
          </a:r>
          <a:r>
            <a:rPr lang="es-EC" sz="1400" kern="1200" dirty="0"/>
            <a:t>' presenta mayor tasa de error y comparte características con '</a:t>
          </a:r>
          <a:r>
            <a:rPr lang="es-EC" sz="1400" kern="1200" dirty="0" err="1"/>
            <a:t>suspicious</a:t>
          </a:r>
          <a:r>
            <a:rPr lang="es-EC" sz="1400" kern="1200" dirty="0"/>
            <a:t>'. Se requieren </a:t>
          </a:r>
          <a:r>
            <a:rPr lang="es-EC" sz="1400" kern="1200" dirty="0" err="1"/>
            <a:t>features</a:t>
          </a:r>
          <a:r>
            <a:rPr lang="es-EC" sz="1400" kern="1200" dirty="0"/>
            <a:t> adicionales para mejorar la separación.</a:t>
          </a:r>
        </a:p>
      </dsp:txBody>
      <dsp:txXfrm>
        <a:off x="1861599" y="346182"/>
        <a:ext cx="5167674" cy="1335417"/>
      </dsp:txXfrm>
    </dsp:sp>
    <dsp:sp modelId="{C1DAC70E-8493-43FB-908B-39E0C0D07578}">
      <dsp:nvSpPr>
        <dsp:cNvPr id="0" name=""/>
        <dsp:cNvSpPr/>
      </dsp:nvSpPr>
      <dsp:spPr>
        <a:xfrm>
          <a:off x="0" y="1816127"/>
          <a:ext cx="1681599" cy="1681599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8" r="5807" b="-6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C4610E-52F0-4AEA-A34F-DB548D0B8AFD}">
      <dsp:nvSpPr>
        <dsp:cNvPr id="0" name=""/>
        <dsp:cNvSpPr/>
      </dsp:nvSpPr>
      <dsp:spPr>
        <a:xfrm>
          <a:off x="1861599" y="1816127"/>
          <a:ext cx="5167674" cy="3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C" sz="1800" kern="1200"/>
            <a:t>Dependencia de IPs</a:t>
          </a:r>
        </a:p>
      </dsp:txBody>
      <dsp:txXfrm>
        <a:off x="1861599" y="1816127"/>
        <a:ext cx="5167674" cy="346182"/>
      </dsp:txXfrm>
    </dsp:sp>
    <dsp:sp modelId="{C708666D-F6EC-496D-A79F-03C0FCD24B0D}">
      <dsp:nvSpPr>
        <dsp:cNvPr id="0" name=""/>
        <dsp:cNvSpPr/>
      </dsp:nvSpPr>
      <dsp:spPr>
        <a:xfrm>
          <a:off x="1861599" y="2162310"/>
          <a:ext cx="5167674" cy="1335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400" kern="1200" dirty="0"/>
            <a:t>El modelo puede </a:t>
          </a:r>
          <a:r>
            <a:rPr lang="es-EC" sz="1400" kern="1200" dirty="0" err="1"/>
            <a:t>sobre-aprender</a:t>
          </a:r>
          <a:r>
            <a:rPr lang="es-EC" sz="1400" kern="1200" dirty="0"/>
            <a:t> </a:t>
          </a:r>
          <a:r>
            <a:rPr lang="es-EC" sz="1400" kern="1200" dirty="0" err="1"/>
            <a:t>IPs</a:t>
          </a:r>
          <a:r>
            <a:rPr lang="es-EC" sz="1400" kern="1200" dirty="0"/>
            <a:t> específicas del entrenamiento, dificultando el reconocimiento de nuevas </a:t>
          </a:r>
          <a:r>
            <a:rPr lang="es-EC" sz="1400" kern="1200" dirty="0" err="1"/>
            <a:t>IPs</a:t>
          </a:r>
          <a:r>
            <a:rPr lang="es-EC" sz="1400" kern="1200" dirty="0"/>
            <a:t> atacantes en producción.</a:t>
          </a:r>
        </a:p>
      </dsp:txBody>
      <dsp:txXfrm>
        <a:off x="1861599" y="2162310"/>
        <a:ext cx="5167674" cy="1335417"/>
      </dsp:txXfrm>
    </dsp:sp>
    <dsp:sp modelId="{6A36B468-F4CC-4709-B69A-DFC9A55861AE}">
      <dsp:nvSpPr>
        <dsp:cNvPr id="0" name=""/>
        <dsp:cNvSpPr/>
      </dsp:nvSpPr>
      <dsp:spPr>
        <a:xfrm>
          <a:off x="0" y="3632255"/>
          <a:ext cx="1681599" cy="1681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49" b="-2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CED0C8-1810-4DC6-AD46-5911C8008095}">
      <dsp:nvSpPr>
        <dsp:cNvPr id="0" name=""/>
        <dsp:cNvSpPr/>
      </dsp:nvSpPr>
      <dsp:spPr>
        <a:xfrm>
          <a:off x="1861599" y="3632255"/>
          <a:ext cx="5167674" cy="3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C" sz="1800" kern="1200"/>
            <a:t>Interpretabilidad vs Performance</a:t>
          </a:r>
        </a:p>
      </dsp:txBody>
      <dsp:txXfrm>
        <a:off x="1861599" y="3632255"/>
        <a:ext cx="5167674" cy="346182"/>
      </dsp:txXfrm>
    </dsp:sp>
    <dsp:sp modelId="{BAA6CC25-592A-4C81-8CA8-868A5B2BD558}">
      <dsp:nvSpPr>
        <dsp:cNvPr id="0" name=""/>
        <dsp:cNvSpPr/>
      </dsp:nvSpPr>
      <dsp:spPr>
        <a:xfrm>
          <a:off x="1861599" y="3978438"/>
          <a:ext cx="5167674" cy="1335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400" kern="1200"/>
            <a:t>Random Forest tiene alto rendimiento pero es menos interpretable; SHAP values ayudan a explicar predicciones.</a:t>
          </a:r>
        </a:p>
      </dsp:txBody>
      <dsp:txXfrm>
        <a:off x="1861599" y="3978438"/>
        <a:ext cx="5167674" cy="1335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E3C09-1235-42CA-80B6-6327EF1B1224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03B01-D569-49D8-9C93-7CFE4836143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9696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Revisaremos el contexto y objetivo del proyecto, el análisis exploratorio de datos, el preprocesamiento, los modelos implementados y sus resultados, la comparación entre modelos, la importancia de las variables y finalmente los hallazgos y conclusiones.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2658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Objetivo principal y descripción del dataset utilizado, Distribución de clases y problemática de desbalance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2694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Objetivo Principal
</a:t>
            </a:r>
          </a:p>
          <a:p>
            <a:r>
              <a:rPr lang="es-EC"/>
              <a:t>
Desarrollar, entrenar y comparar clasificadores supervisados (SVM y Árboles de Decisión) para la detección de patrones anómalos en logs de servidor, identificando actividad normal, sospechosa y desconocida.
</a:t>
            </a:r>
          </a:p>
          <a:p>
            <a:r>
              <a:rPr lang="es-EC"/>
              <a:t>
Dataset Utilizado
</a:t>
            </a:r>
          </a:p>
          <a:p>
            <a:r>
              <a:rPr lang="es-EC"/>
              <a:t>
• Nombre: CIDDS-001-external-week1.csv
</a:t>
            </a:r>
          </a:p>
          <a:p>
            <a:r>
              <a:rPr lang="es-EC"/>
              <a:t>
• Tamaño inicial: 172,838 registros × 16 variables
</a:t>
            </a:r>
          </a:p>
          <a:p>
            <a:r>
              <a:rPr lang="es-EC"/>
              <a:t>
• Dominio: Logs de tráfico de red (sensores, comportamiento de usuarios, métricas de rendimiento)
</a:t>
            </a:r>
          </a:p>
          <a:p>
            <a:r>
              <a:rPr lang="es-EC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03427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Distribución de Clases (Desbalanceada)
</a:t>
            </a:r>
          </a:p>
          <a:p>
            <a:r>
              <a:rPr lang="es-EC"/>
              <a:t>
suspicious:  107,344 registros  (62.11%)
</a:t>
            </a:r>
          </a:p>
          <a:p>
            <a:r>
              <a:rPr lang="es-EC"/>
              <a:t>
normal:       49,606 registros  (28.70%)
</a:t>
            </a:r>
          </a:p>
          <a:p>
            <a:r>
              <a:rPr lang="es-EC"/>
              <a:t>
unknown:      15,888 registros   (9.19%)
</a:t>
            </a:r>
          </a:p>
          <a:p>
            <a:r>
              <a:rPr lang="es-EC"/>
              <a:t>
Problema identificado: Fuerte desbalance de clases que requiere tratamiento especial mediante técnicas de balanceo (class_weight='balanced').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93938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Variables clave identificadas: numéricas y categóricas, Hallazgos del análisis exploratorio y correlaciones importantes, Dispersión por clase y observaciones de histogramas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6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6959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Variables Clave Identificadas
</a:t>
            </a:r>
          </a:p>
          <a:p>
            <a:r>
              <a:rPr lang="es-EC"/>
              <a:t>
Variables Numéricas (8 variables):
</a:t>
            </a:r>
          </a:p>
          <a:p>
            <a:r>
              <a:rPr lang="es-EC"/>
              <a:t>
• duration_sec: Duración de conexión en segundos
</a:t>
            </a:r>
          </a:p>
          <a:p>
            <a:r>
              <a:rPr lang="es-EC"/>
              <a:t>
• src_pt, dst_pt: Puertos de origen y destino
</a:t>
            </a:r>
          </a:p>
          <a:p>
            <a:r>
              <a:rPr lang="es-EC"/>
              <a:t>
• packets: Número de paquetes transmitidos
</a:t>
            </a:r>
          </a:p>
          <a:p>
            <a:r>
              <a:rPr lang="es-EC"/>
              <a:t>
• bytes: Volumen de datos transferidos
</a:t>
            </a:r>
          </a:p>
          <a:p>
            <a:r>
              <a:rPr lang="es-EC"/>
              <a:t>
• flows: Número de flujos de red
</a:t>
            </a:r>
          </a:p>
          <a:p>
            <a:r>
              <a:rPr lang="es-EC"/>
              <a:t>
• tos: Tipo de servicio (Type of Service)
</a:t>
            </a:r>
          </a:p>
          <a:p>
            <a:r>
              <a:rPr lang="es-EC"/>
              <a:t>
Variables Categóricas (7 variables):
</a:t>
            </a:r>
          </a:p>
          <a:p>
            <a:r>
              <a:rPr lang="es-EC"/>
              <a:t>
• flags: Banderas TCP/IP (AP.SF, A.S., APRSF, etc.)
</a:t>
            </a:r>
          </a:p>
          <a:p>
            <a:r>
              <a:rPr lang="es-EC"/>
              <a:t>
• src_ip_addr, dst_ip_addr: Direcciones IP origen/destino
</a:t>
            </a:r>
          </a:p>
          <a:p>
            <a:r>
              <a:rPr lang="es-EC"/>
              <a:t>
• proto: Protocolo de red (TCP, UDP, etc.)
</a:t>
            </a:r>
          </a:p>
          <a:p>
            <a:r>
              <a:rPr lang="es-EC"/>
              <a:t>
• attacktype: Tipo de ataque registrado
</a:t>
            </a:r>
          </a:p>
          <a:p>
            <a:r>
              <a:rPr lang="es-EC"/>
              <a:t>
• attackid: Identificador del ataque
</a:t>
            </a:r>
          </a:p>
          <a:p>
            <a:r>
              <a:rPr lang="es-EC"/>
              <a:t>
• attackdescription: Descripción del ataque
</a:t>
            </a:r>
          </a:p>
          <a:p>
            <a:r>
              <a:rPr lang="es-EC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1089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Hallazgos del Análisis Exploratorio
</a:t>
            </a:r>
          </a:p>
          <a:p>
            <a:r>
              <a:rPr lang="es-EC"/>
              <a:t>
 </a:t>
            </a:r>
          </a:p>
          <a:p>
            <a:r>
              <a:rPr lang="es-EC"/>
              <a:t>
Correlaciones Importantes detectadas:
</a:t>
            </a:r>
          </a:p>
          <a:p>
            <a:r>
              <a:rPr lang="es-EC"/>
              <a:t>
• Fuerte correlación positiva: packets ↔ bytes (0.98)
</a:t>
            </a:r>
          </a:p>
          <a:p>
            <a:r>
              <a:rPr lang="es-EC"/>
              <a:t>
  Interpretación: A mayor número de paquetes, mayor volumen de datos transmitidos
</a:t>
            </a:r>
          </a:p>
          <a:p>
            <a:r>
              <a:rPr lang="es-EC"/>
              <a:t>
• Correlación negativa entre puertos: src_pt ↔ dst_pt (-0.60)
</a:t>
            </a:r>
          </a:p>
          <a:p>
            <a:r>
              <a:rPr lang="es-EC"/>
              <a:t>
  Interpretación: Los puertos origen y destino tienden a ser diferentes
</a:t>
            </a:r>
          </a:p>
          <a:p>
            <a:r>
              <a:rPr lang="es-EC"/>
              <a:t>
• duration_sec: Alta correlación consigo misma (variable derivada de duration original)
</a:t>
            </a:r>
          </a:p>
          <a:p>
            <a:r>
              <a:rPr lang="es-EC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9769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Dispersión por Clase Observada:
</a:t>
            </a:r>
          </a:p>
          <a:p>
            <a:r>
              <a:rPr lang="es-EC"/>
              <a:t>
Clase "suspicious":
</a:t>
            </a:r>
          </a:p>
          <a:p>
            <a:r>
              <a:rPr lang="es-EC"/>
              <a:t>
• Mayor variabilidad en duration (rango amplio: 0-45 segundos)
</a:t>
            </a:r>
          </a:p>
          <a:p>
            <a:r>
              <a:rPr lang="es-EC"/>
              <a:t>
• Valores atípicos frecuentes en packets y bytes
</a:t>
            </a:r>
          </a:p>
          <a:p>
            <a:r>
              <a:rPr lang="es-EC"/>
              <a:t>
• Media de duración: ~10 segundos
</a:t>
            </a:r>
          </a:p>
          <a:p>
            <a:r>
              <a:rPr lang="es-EC"/>
              <a:t>
Clase "normal":
</a:t>
            </a:r>
          </a:p>
          <a:p>
            <a:r>
              <a:rPr lang="es-EC"/>
              <a:t>
• Valores más concentrados y uniformes
</a:t>
            </a:r>
          </a:p>
          <a:p>
            <a:r>
              <a:rPr lang="es-EC"/>
              <a:t>
• Menor duración promedio (~1 segundo)
</a:t>
            </a:r>
          </a:p>
          <a:p>
            <a:r>
              <a:rPr lang="es-EC"/>
              <a:t>
• Distribución más compacta
</a:t>
            </a:r>
          </a:p>
          <a:p>
            <a:r>
              <a:rPr lang="es-EC"/>
              <a:t>
Clase "unknown":
</a:t>
            </a:r>
          </a:p>
          <a:p>
            <a:r>
              <a:rPr lang="es-EC"/>
              <a:t>
• Patrones intermedios entre normal y suspicious
</a:t>
            </a:r>
          </a:p>
          <a:p>
            <a:r>
              <a:rPr lang="es-EC"/>
              <a:t>
• Alta duración en algunos casos (~30 segundos)
</a:t>
            </a:r>
          </a:p>
          <a:p>
            <a:r>
              <a:rPr lang="es-EC"/>
              <a:t>
• Mayor dispersión que "normal", menor que "suspicious"
</a:t>
            </a:r>
          </a:p>
          <a:p>
            <a:r>
              <a:rPr lang="es-EC"/>
              <a:t>
 </a:t>
            </a:r>
          </a:p>
          <a:p>
            <a:r>
              <a:rPr lang="es-EC"/>
              <a:t>
 </a:t>
            </a:r>
          </a:p>
          <a:p>
            <a:r>
              <a:rPr lang="es-EC"/>
              <a:t>
 </a:t>
            </a:r>
          </a:p>
          <a:p>
            <a:r>
              <a:rPr lang="es-EC"/>
              <a:t>
 </a:t>
            </a:r>
          </a:p>
          <a:p>
            <a:r>
              <a:rPr lang="es-EC"/>
              <a:t>
Observaciones adicionales de los histogramas:
</a:t>
            </a:r>
          </a:p>
          <a:p>
            <a:r>
              <a:rPr lang="es-EC"/>
              <a:t>
• La mayoría de conexiones tienen duración muy corta (&lt;10 segundos)
</a:t>
            </a:r>
          </a:p>
          <a:p>
            <a:r>
              <a:rPr lang="es-EC"/>
              <a:t>
• Las conexiones "suspicious" muestran una cola larga hacia duraciones mayores
</a:t>
            </a:r>
          </a:p>
          <a:p>
            <a:r>
              <a:rPr lang="es-EC"/>
              <a:t>
• Los puertos se concentran en valores específicos (23, 8000, etc.)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9110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Pipeline de transformación y técnicas aplicadas, División de datos y dimensionalidad final, Distribución de clases en el conjunto de entrenamiento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87791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Pipeline de Transformación Implementado
</a:t>
            </a:r>
          </a:p>
          <a:p>
            <a:r>
              <a:rPr lang="es-EC"/>
              <a:t>
Se utilizó un ColumnTransformer de scikit-learn que aplica transformaciones diferenciadas según el tipo de variable:
</a:t>
            </a:r>
          </a:p>
          <a:p>
            <a:r>
              <a:rPr lang="es-EC"/>
              <a:t>
Para Variables Numéricas (8 features):
</a:t>
            </a:r>
          </a:p>
          <a:p>
            <a:r>
              <a:rPr lang="es-EC"/>
              <a:t>
1. SimpleImputer con estrategia 'median': reemplaza valores nulos por la mediana
</a:t>
            </a:r>
          </a:p>
          <a:p>
            <a:r>
              <a:rPr lang="es-EC"/>
              <a:t>
2. StandardScaler: normaliza los datos (media=0, desviación estándar=1)
</a:t>
            </a:r>
          </a:p>
          <a:p>
            <a:r>
              <a:rPr lang="es-EC"/>
              <a:t>
Para Variables Categóricas (7 features):
</a:t>
            </a:r>
          </a:p>
          <a:p>
            <a:r>
              <a:rPr lang="es-EC"/>
              <a:t>
1. SimpleImputer con estrategia 'most_frequent': reemplaza nulos por la moda
</a:t>
            </a:r>
          </a:p>
          <a:p>
            <a:r>
              <a:rPr lang="es-EC"/>
              <a:t>
2. OneHotEncoder: convierte categorías en variables dummy binarias
</a:t>
            </a:r>
          </a:p>
          <a:p>
            <a:r>
              <a:rPr lang="es-EC"/>
              <a:t>
   - Configuración: handle_unknown='ignore' para manejar categorías nuevas en test
</a:t>
            </a:r>
          </a:p>
          <a:p>
            <a:r>
              <a:rPr lang="es-EC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04448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Árbol de Decisión: configuración, métricas y análisis, Linear SVC: configuración, métricas y análisis, Random Forest: configuración, métricas y análisis, Regresión Logística Multiclase: configuración, métricas y análisis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54278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4.1 ÁRBOL DE DECISIÓN
</a:t>
            </a:r>
          </a:p>
          <a:p>
            <a:r>
              <a:rPr lang="es-EC"/>
              <a:t>
Configuración del Modelo:
</a:t>
            </a:r>
          </a:p>
          <a:p>
            <a:r>
              <a:rPr lang="es-EC"/>
              <a:t>
Algoritmo: DecisionTreeClassifier
</a:t>
            </a:r>
          </a:p>
          <a:p>
            <a:r>
              <a:rPr lang="es-EC"/>
              <a:t>
Criterio de división: gini
</a:t>
            </a:r>
          </a:p>
          <a:p>
            <a:r>
              <a:rPr lang="es-EC"/>
              <a:t>
Profundidad máxima: None (sin límite)
</a:t>
            </a:r>
          </a:p>
          <a:p>
            <a:r>
              <a:rPr lang="es-EC"/>
              <a:t>
Mínimo de muestras para dividir: 2
</a:t>
            </a:r>
          </a:p>
          <a:p>
            <a:r>
              <a:rPr lang="es-EC"/>
              <a:t>
Mínimo de muestras por hoja: 1
</a:t>
            </a:r>
          </a:p>
          <a:p>
            <a:r>
              <a:rPr lang="es-EC"/>
              <a:t>
Random state: 42
</a:t>
            </a:r>
          </a:p>
          <a:p>
            <a:r>
              <a:rPr lang="es-EC"/>
              <a:t>
Resultados en Conjunto de Prueba:
</a:t>
            </a:r>
          </a:p>
          <a:p>
            <a:r>
              <a:rPr lang="es-EC"/>
              <a:t>
Accuracy: 99.84%
</a:t>
            </a:r>
          </a:p>
          <a:p>
            <a:r>
              <a:rPr lang="es-EC"/>
              <a:t>
F1-macro: 0.9967
</a:t>
            </a:r>
          </a:p>
          <a:p>
            <a:r>
              <a:rPr lang="es-EC"/>
              <a:t>
Precision macro: 0.9978
</a:t>
            </a:r>
          </a:p>
          <a:p>
            <a:r>
              <a:rPr lang="es-EC"/>
              <a:t>
Recall macro: 0.9956
</a:t>
            </a:r>
          </a:p>
          <a:p>
            <a:r>
              <a:rPr lang="es-EC"/>
              <a:t>
Métricas por Clase:
</a:t>
            </a:r>
          </a:p>
          <a:p>
            <a:r>
              <a:rPr lang="es-EC"/>
              <a:t>
                precision    recall    f1-score    support
</a:t>
            </a:r>
          </a:p>
          <a:p>
            <a:r>
              <a:rPr lang="es-EC"/>
              <a:t>
normal            1.00      1.00       1.00       9,921
</a:t>
            </a:r>
          </a:p>
          <a:p>
            <a:r>
              <a:rPr lang="es-EC"/>
              <a:t>
suspicious        1.00      1.00       1.00      21,469
</a:t>
            </a:r>
          </a:p>
          <a:p>
            <a:r>
              <a:rPr lang="es-EC"/>
              <a:t>
unknown           1.00      0.99       0.99       3,178
</a:t>
            </a:r>
          </a:p>
          <a:p>
            <a:r>
              <a:rPr lang="es-EC"/>
              <a:t>
 </a:t>
            </a:r>
          </a:p>
          <a:p>
            <a:r>
              <a:rPr lang="es-EC"/>
              <a:t>
 </a:t>
            </a:r>
          </a:p>
          <a:p>
            <a:r>
              <a:rPr lang="es-EC"/>
              <a:t>
Análisis de la Matriz de Confusión:
</a:t>
            </a:r>
          </a:p>
          <a:p>
            <a:r>
              <a:rPr lang="es-EC"/>
              <a:t>
Predicciones correctas:
</a:t>
            </a:r>
          </a:p>
          <a:p>
            <a:r>
              <a:rPr lang="es-EC"/>
              <a:t>
• Normal: 9,919 de 9,921 (99.98%)
</a:t>
            </a:r>
          </a:p>
          <a:p>
            <a:r>
              <a:rPr lang="es-EC"/>
              <a:t>
• Suspicious: 21,456 de 21,469 (99.94%)
</a:t>
            </a:r>
          </a:p>
          <a:p>
            <a:r>
              <a:rPr lang="es-EC"/>
              <a:t>
• Unknown: 3,139 de 3,178 (98.77%)
</a:t>
            </a:r>
          </a:p>
          <a:p>
            <a:r>
              <a:rPr lang="es-EC"/>
              <a:t>
Errores identificados:
</a:t>
            </a:r>
          </a:p>
          <a:p>
            <a:r>
              <a:rPr lang="es-EC"/>
              <a:t>
• 2 casos de "normal" clasificados como "unknown"
</a:t>
            </a:r>
          </a:p>
          <a:p>
            <a:r>
              <a:rPr lang="es-EC"/>
              <a:t>
• 13 casos de "suspicious" clasificados como "unknown"
</a:t>
            </a:r>
          </a:p>
          <a:p>
            <a:r>
              <a:rPr lang="es-EC"/>
              <a:t>
• 39 casos de "unknown" clasificados como "suspicious"
</a:t>
            </a:r>
          </a:p>
          <a:p>
            <a:r>
              <a:rPr lang="es-EC"/>
              <a:t>
 </a:t>
            </a:r>
          </a:p>
          <a:p>
            <a:r>
              <a:rPr lang="es-EC"/>
              <a:t>
Top 5 Variables Más Importantes:
</a:t>
            </a:r>
          </a:p>
          <a:p>
            <a:r>
              <a:rPr lang="es-EC"/>
              <a:t>
1. flags__AP.SF: 0.3570 (35.7% de importancia)
</a:t>
            </a:r>
          </a:p>
          <a:p>
            <a:r>
              <a:rPr lang="es-EC"/>
              <a:t>
2. duration_sec: 0.3117 (31.2%)
</a:t>
            </a:r>
          </a:p>
          <a:p>
            <a:r>
              <a:rPr lang="es-EC"/>
              <a:t>
3. bytes: 0.1598 (16.0%)
</a:t>
            </a:r>
          </a:p>
          <a:p>
            <a:r>
              <a:rPr lang="es-EC"/>
              <a:t>
4. dst_pt: 0.0487 (4.9%)
</a:t>
            </a:r>
          </a:p>
          <a:p>
            <a:r>
              <a:rPr lang="es-EC"/>
              <a:t>
5. src_pt: 0.0266 (2.7%)
</a:t>
            </a:r>
          </a:p>
          <a:p>
            <a:r>
              <a:rPr lang="es-EC"/>
              <a:t>
Interpretación: Las banderas TCP (flags) y la duración de la conexión son los predictores más fuertes.
</a:t>
            </a:r>
          </a:p>
          <a:p>
            <a:r>
              <a:rPr lang="es-EC"/>
              <a:t>
 </a:t>
            </a:r>
          </a:p>
          <a:p>
            <a:r>
              <a:rPr lang="es-EC"/>
              <a:t>
Fortalezas del Modelo:
</a:t>
            </a:r>
          </a:p>
          <a:p>
            <a:r>
              <a:rPr lang="es-EC"/>
              <a:t>
✓ Clasificación casi perfecta de clases "normal" y "suspicious"
</a:t>
            </a:r>
          </a:p>
          <a:p>
            <a:r>
              <a:rPr lang="es-EC"/>
              <a:t>
✓ Alta interpretabilidad mediante visualización del árbol
</a:t>
            </a:r>
          </a:p>
          <a:p>
            <a:r>
              <a:rPr lang="es-EC"/>
              <a:t>
✓ Identificación clara de variables más influyentes
</a:t>
            </a:r>
          </a:p>
          <a:p>
            <a:r>
              <a:rPr lang="es-EC"/>
              <a:t>
✓ Rápido en entrenamiento y predicción
</a:t>
            </a:r>
          </a:p>
          <a:p>
            <a:r>
              <a:rPr lang="es-EC"/>
              <a:t>
Debilidades del Modelo:
</a:t>
            </a:r>
          </a:p>
          <a:p>
            <a:r>
              <a:rPr lang="es-EC"/>
              <a:t>
✗ Sobreajuste potencial por profundidad ilimitada
</a:t>
            </a:r>
          </a:p>
          <a:p>
            <a:r>
              <a:rPr lang="es-EC"/>
              <a:t>
✗ Menor rendimiento en clase minoritaria "unknown" (39 errores)
</a:t>
            </a:r>
          </a:p>
          <a:p>
            <a:r>
              <a:rPr lang="es-EC"/>
              <a:t>
✗ Sensible a pequeñas variaciones en datos de entrenamiento
</a:t>
            </a:r>
          </a:p>
          <a:p>
            <a:r>
              <a:rPr lang="es-EC"/>
              <a:t>
✗ Puede memorizar ruido en lugar de patrones generales
</a:t>
            </a:r>
          </a:p>
          <a:p>
            <a:r>
              <a:rPr lang="es-EC"/>
              <a:t>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87893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4.2 LINEAR SVC (SUPPORT VECTOR MACHINE)
</a:t>
            </a:r>
          </a:p>
          <a:p>
            <a:r>
              <a:rPr lang="es-EC"/>
              <a:t>
Configuración del Modelo:
</a:t>
            </a:r>
          </a:p>
          <a:p>
            <a:r>
              <a:rPr lang="es-EC"/>
              <a:t>
Algoritmo: LinearSVC
</a:t>
            </a:r>
          </a:p>
          <a:p>
            <a:r>
              <a:rPr lang="es-EC"/>
              <a:t>
Dual: auto (selección automática según dimensionalidad)
</a:t>
            </a:r>
          </a:p>
          <a:p>
            <a:r>
              <a:rPr lang="es-EC"/>
              <a:t>
Class weight: balanced (ajuste por desbalance)
</a:t>
            </a:r>
          </a:p>
          <a:p>
            <a:r>
              <a:rPr lang="es-EC"/>
              <a:t>
C: 0.5 (mejor hiperparámetro encontrado por GridSearchCV)
</a:t>
            </a:r>
          </a:p>
          <a:p>
            <a:r>
              <a:rPr lang="es-EC"/>
              <a:t>
Max iter: 5,000
</a:t>
            </a:r>
          </a:p>
          <a:p>
            <a:r>
              <a:rPr lang="es-EC"/>
              <a:t>
Random state: 42
</a:t>
            </a:r>
          </a:p>
          <a:p>
            <a:r>
              <a:rPr lang="es-EC"/>
              <a:t>
Búsqueda de Hiperparámetros:
</a:t>
            </a:r>
          </a:p>
          <a:p>
            <a:r>
              <a:rPr lang="es-EC"/>
              <a:t>
• Grid: C = [0.25, 0.5, 1.0, 2.0]
</a:t>
            </a:r>
          </a:p>
          <a:p>
            <a:r>
              <a:rPr lang="es-EC"/>
              <a:t>
• Validación cruzada: 3-fold
</a:t>
            </a:r>
          </a:p>
          <a:p>
            <a:r>
              <a:rPr lang="es-EC"/>
              <a:t>
• Métrica de optimización: F1-macro
</a:t>
            </a:r>
          </a:p>
          <a:p>
            <a:r>
              <a:rPr lang="es-EC"/>
              <a:t>
• Mejor C encontrado: 0.5
</a:t>
            </a:r>
          </a:p>
          <a:p>
            <a:r>
              <a:rPr lang="es-EC"/>
              <a:t>
Resultados en Conjunto de Prueba:
</a:t>
            </a:r>
          </a:p>
          <a:p>
            <a:r>
              <a:rPr lang="es-EC"/>
              <a:t>
Accuracy: 99.49%
</a:t>
            </a:r>
          </a:p>
          <a:p>
            <a:r>
              <a:rPr lang="es-EC"/>
              <a:t>
F1-macro: 0.9892
</a:t>
            </a:r>
          </a:p>
          <a:p>
            <a:r>
              <a:rPr lang="es-EC"/>
              <a:t>
Precision macro: 0.9922
</a:t>
            </a:r>
          </a:p>
          <a:p>
            <a:r>
              <a:rPr lang="es-EC"/>
              <a:t>
Recall macro: 0.9862
</a:t>
            </a:r>
          </a:p>
          <a:p>
            <a:r>
              <a:rPr lang="es-EC"/>
              <a:t>
Métricas por Clase:
</a:t>
            </a:r>
          </a:p>
          <a:p>
            <a:r>
              <a:rPr lang="es-EC"/>
              <a:t>
                precision    recall    f1-score    support
</a:t>
            </a:r>
          </a:p>
          <a:p>
            <a:r>
              <a:rPr lang="es-EC"/>
              <a:t>
normal            1.00      1.00       1.00       9,921
</a:t>
            </a:r>
          </a:p>
          <a:p>
            <a:r>
              <a:rPr lang="es-EC"/>
              <a:t>
suspicious        0.99      1.00       1.00      21,469
</a:t>
            </a:r>
          </a:p>
          <a:p>
            <a:r>
              <a:rPr lang="es-EC"/>
              <a:t>
unknown           0.98      0.96       0.97       3,178
</a:t>
            </a:r>
          </a:p>
          <a:p>
            <a:r>
              <a:rPr lang="es-EC"/>
              <a:t>
 </a:t>
            </a:r>
          </a:p>
          <a:p>
            <a:r>
              <a:rPr lang="es-EC"/>
              <a:t>
Análisis de la Matriz de Confusión:
</a:t>
            </a:r>
          </a:p>
          <a:p>
            <a:r>
              <a:rPr lang="es-EC"/>
              <a:t>
Predicciones correctas:
</a:t>
            </a:r>
          </a:p>
          <a:p>
            <a:r>
              <a:rPr lang="es-EC"/>
              <a:t>
• Normal: 9,921 de 9,921 (100%)
</a:t>
            </a:r>
          </a:p>
          <a:p>
            <a:r>
              <a:rPr lang="es-EC"/>
              <a:t>
• Suspicious: 21,414 de 21,469 (99.74%)
</a:t>
            </a:r>
          </a:p>
          <a:p>
            <a:r>
              <a:rPr lang="es-EC"/>
              <a:t>
• Unknown: 3,055 de 3,178 (96.13%)
</a:t>
            </a:r>
          </a:p>
          <a:p>
            <a:r>
              <a:rPr lang="es-EC"/>
              <a:t>
Errores identificados:
</a:t>
            </a:r>
          </a:p>
          <a:p>
            <a:r>
              <a:rPr lang="es-EC"/>
              <a:t>
• 0 errores en clase "normal" (clasificación perfecta)
</a:t>
            </a:r>
          </a:p>
          <a:p>
            <a:r>
              <a:rPr lang="es-EC"/>
              <a:t>
• 55 casos de "suspicious" clasificados como "unknown"
</a:t>
            </a:r>
          </a:p>
          <a:p>
            <a:r>
              <a:rPr lang="es-EC"/>
              <a:t>
• 123 casos de "unknown" clasificados como "suspicious"
</a:t>
            </a:r>
          </a:p>
          <a:p>
            <a:r>
              <a:rPr lang="es-EC"/>
              <a:t>
Total de errores: 178 (0.51% del conjunto de prueba)
</a:t>
            </a:r>
          </a:p>
          <a:p>
            <a:r>
              <a:rPr lang="es-EC"/>
              <a:t>
Fortalezas del Modelo:
</a:t>
            </a:r>
          </a:p>
          <a:p>
            <a:r>
              <a:rPr lang="es-EC"/>
              <a:t>
✓ Excelente generalización en espacios de alta dimensionalidad (17,317 features)
</a:t>
            </a:r>
          </a:p>
          <a:p>
            <a:r>
              <a:rPr lang="es-EC"/>
              <a:t>
✓ Manejo robusto del desbalance mediante class_weight='balanced'
</a:t>
            </a:r>
          </a:p>
          <a:p>
            <a:r>
              <a:rPr lang="es-EC"/>
              <a:t>
✓ Mayor estabilidad que árbol simple (menos varianza)
</a:t>
            </a:r>
          </a:p>
          <a:p>
            <a:r>
              <a:rPr lang="es-EC"/>
              <a:t>
✓ Buen rendimiento con datos linealmente separables
</a:t>
            </a:r>
          </a:p>
          <a:p>
            <a:r>
              <a:rPr lang="es-EC"/>
              <a:t>
✓ Clasificación perfecta de tráfico "normal"
</a:t>
            </a:r>
          </a:p>
          <a:p>
            <a:r>
              <a:rPr lang="es-EC"/>
              <a:t>
Debilidades del Modelo:
</a:t>
            </a:r>
          </a:p>
          <a:p>
            <a:r>
              <a:rPr lang="es-EC"/>
              <a:t>
✗ Menor recall en clase "unknown" (96% vs 99% del árbol)
</a:t>
            </a:r>
          </a:p>
          <a:p>
            <a:r>
              <a:rPr lang="es-EC"/>
              <a:t>
✗ 123 confusiones "unknown" → "suspicious" (mayor que árbol)
</a:t>
            </a:r>
          </a:p>
          <a:p>
            <a:r>
              <a:rPr lang="es-EC"/>
              <a:t>
✗ Menos interpretable que modelos basados en árboles
</a:t>
            </a:r>
          </a:p>
          <a:p>
            <a:r>
              <a:rPr lang="es-EC"/>
              <a:t>
✗ Requiere escalado de features (ya aplicado en pipeline)
</a:t>
            </a:r>
          </a:p>
          <a:p>
            <a:r>
              <a:rPr lang="es-EC"/>
              <a:t>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11899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4.3 RANDOM FOREST ⭐ MEJOR MODELO
</a:t>
            </a:r>
          </a:p>
          <a:p>
            <a:r>
              <a:rPr lang="es-EC"/>
              <a:t>
Configuración del Modelo:
</a:t>
            </a:r>
          </a:p>
          <a:p>
            <a:r>
              <a:rPr lang="es-EC"/>
              <a:t>
Algoritmo: RandomForestClassifier
</a:t>
            </a:r>
          </a:p>
          <a:p>
            <a:r>
              <a:rPr lang="es-EC"/>
              <a:t>
N estimators: 300 árboles
</a:t>
            </a:r>
          </a:p>
          <a:p>
            <a:r>
              <a:rPr lang="es-EC"/>
              <a:t>
Max depth: None (sin límite)
</a:t>
            </a:r>
          </a:p>
          <a:p>
            <a:r>
              <a:rPr lang="es-EC"/>
              <a:t>
Min samples leaf: 1
</a:t>
            </a:r>
          </a:p>
          <a:p>
            <a:r>
              <a:rPr lang="es-EC"/>
              <a:t>
Class weight: balanced_subsample
</a:t>
            </a:r>
          </a:p>
          <a:p>
            <a:r>
              <a:rPr lang="es-EC"/>
              <a:t>
N jobs: -1 (paralelización completa)
</a:t>
            </a:r>
          </a:p>
          <a:p>
            <a:r>
              <a:rPr lang="es-EC"/>
              <a:t>
Random state: 42
</a:t>
            </a:r>
          </a:p>
          <a:p>
            <a:r>
              <a:rPr lang="es-EC"/>
              <a:t>
Búsqueda de Hiperparámetros:
</a:t>
            </a:r>
          </a:p>
          <a:p>
            <a:r>
              <a:rPr lang="es-EC"/>
              <a:t>
• Grid evaluado:
</a:t>
            </a:r>
          </a:p>
          <a:p>
            <a:r>
              <a:rPr lang="es-EC"/>
              <a:t>
  - n_estimators: [150, 300]
</a:t>
            </a:r>
          </a:p>
          <a:p>
            <a:r>
              <a:rPr lang="es-EC"/>
              <a:t>
  - max_depth: [None, 12, 20]
</a:t>
            </a:r>
          </a:p>
          <a:p>
            <a:r>
              <a:rPr lang="es-EC"/>
              <a:t>
  - min_samples_leaf: [1, 3]
</a:t>
            </a:r>
          </a:p>
          <a:p>
            <a:r>
              <a:rPr lang="es-EC"/>
              <a:t>
• Validación cruzada: 3-fold
</a:t>
            </a:r>
          </a:p>
          <a:p>
            <a:r>
              <a:rPr lang="es-EC"/>
              <a:t>
• Mejor combinación: n_estimators=300, max_depth=None, min_samples_leaf=1
</a:t>
            </a:r>
          </a:p>
          <a:p>
            <a:r>
              <a:rPr lang="es-EC"/>
              <a:t>
Resultados en Conjunto de Prueba:
</a:t>
            </a:r>
          </a:p>
          <a:p>
            <a:r>
              <a:rPr lang="es-EC"/>
              <a:t>
Accuracy: 99.95% ⭐ MEJOR DESEMPEÑO
</a:t>
            </a:r>
          </a:p>
          <a:p>
            <a:r>
              <a:rPr lang="es-EC"/>
              <a:t>
F1-macro: 0.9989
</a:t>
            </a:r>
          </a:p>
          <a:p>
            <a:r>
              <a:rPr lang="es-EC"/>
              <a:t>
Precision macro: 0.9993
</a:t>
            </a:r>
          </a:p>
          <a:p>
            <a:r>
              <a:rPr lang="es-EC"/>
              <a:t>
Recall macro: 0.9984
</a:t>
            </a:r>
          </a:p>
          <a:p>
            <a:r>
              <a:rPr lang="es-EC"/>
              <a:t>
Métricas por Clase:
</a:t>
            </a:r>
          </a:p>
          <a:p>
            <a:r>
              <a:rPr lang="es-EC"/>
              <a:t>
                precision    recall    f1-score    support
</a:t>
            </a:r>
          </a:p>
          <a:p>
            <a:r>
              <a:rPr lang="es-EC"/>
              <a:t>
normal            1.00      1.00       1.00       9,921
</a:t>
            </a:r>
          </a:p>
          <a:p>
            <a:r>
              <a:rPr lang="es-EC"/>
              <a:t>
suspicious        1.00      1.00       1.00      21,469
</a:t>
            </a:r>
          </a:p>
          <a:p>
            <a:r>
              <a:rPr lang="es-EC"/>
              <a:t>
unknown           1.00      1.00       1.00       3,178
</a:t>
            </a:r>
          </a:p>
          <a:p>
            <a:r>
              <a:rPr lang="es-EC"/>
              <a:t>
 </a:t>
            </a:r>
          </a:p>
          <a:p>
            <a:r>
              <a:rPr lang="es-EC"/>
              <a:t>
Análisis de la Matriz de Confusión:
</a:t>
            </a:r>
          </a:p>
          <a:p>
            <a:r>
              <a:rPr lang="es-EC"/>
              <a:t>
Predicciones correctas:
</a:t>
            </a:r>
          </a:p>
          <a:p>
            <a:r>
              <a:rPr lang="es-EC"/>
              <a:t>
• Normal: 9,921 de 9,921 (100%)
</a:t>
            </a:r>
          </a:p>
          <a:p>
            <a:r>
              <a:rPr lang="es-EC"/>
              <a:t>
• Suspicious: 21,465 de 21,469 (99.98%)
</a:t>
            </a:r>
          </a:p>
          <a:p>
            <a:r>
              <a:rPr lang="es-EC"/>
              <a:t>
• Unknown: 3,163 de 3,178 (99.53%)
</a:t>
            </a:r>
          </a:p>
          <a:p>
            <a:r>
              <a:rPr lang="es-EC"/>
              <a:t>
Errores identificados:
</a:t>
            </a:r>
          </a:p>
          <a:p>
            <a:r>
              <a:rPr lang="es-EC"/>
              <a:t>
• 0 errores en clase "normal" (clasificación perfecta)
</a:t>
            </a:r>
          </a:p>
          <a:p>
            <a:r>
              <a:rPr lang="es-EC"/>
              <a:t>
• 4 casos de "suspicious" clasificados como "unknown"
</a:t>
            </a:r>
          </a:p>
          <a:p>
            <a:r>
              <a:rPr lang="es-EC"/>
              <a:t>
• 15 casos de "unknown" clasificados como "suspicious"
</a:t>
            </a:r>
          </a:p>
          <a:p>
            <a:r>
              <a:rPr lang="es-EC"/>
              <a:t>
Total de errores: 19 (0.05% del conjunto de prueba)
</a:t>
            </a:r>
          </a:p>
          <a:p>
            <a:r>
              <a:rPr lang="es-EC"/>
              <a:t>
Mejora vs Árbol Simple: 65% menos errores (54→19)
</a:t>
            </a:r>
          </a:p>
          <a:p>
            <a:r>
              <a:rPr lang="es-EC"/>
              <a:t>
Mejora vs LinearSVC: 89% menos errores (178→19)
</a:t>
            </a:r>
          </a:p>
          <a:p>
            <a:r>
              <a:rPr lang="es-EC"/>
              <a:t>
 </a:t>
            </a:r>
          </a:p>
          <a:p>
            <a:r>
              <a:rPr lang="es-EC"/>
              <a:t>
Top 10 Variables Más Importantes:
</a:t>
            </a:r>
          </a:p>
          <a:p>
            <a:r>
              <a:rPr lang="es-EC"/>
              <a:t>
1. duration_sec: 0.1064 (10.64%)
</a:t>
            </a:r>
          </a:p>
          <a:p>
            <a:r>
              <a:rPr lang="es-EC"/>
              <a:t>
2. bytes: 0.1006 (10.06%)
</a:t>
            </a:r>
          </a:p>
          <a:p>
            <a:r>
              <a:rPr lang="es-EC"/>
              <a:t>
3. packets: 0.0838 (8.38%)
</a:t>
            </a:r>
          </a:p>
          <a:p>
            <a:r>
              <a:rPr lang="es-EC"/>
              <a:t>
4. dst_pt: 0.0800 (8.00%)
</a:t>
            </a:r>
          </a:p>
          <a:p>
            <a:r>
              <a:rPr lang="es-EC"/>
              <a:t>
5. flags__AP.SF: 0.0709 (7.09%)
</a:t>
            </a:r>
          </a:p>
          <a:p>
            <a:r>
              <a:rPr lang="es-EC"/>
              <a:t>
6. src_pt: 0.0669 (6.69%)
</a:t>
            </a:r>
          </a:p>
          <a:p>
            <a:r>
              <a:rPr lang="es-EC"/>
              <a:t>
7. dst_ip_addr_OPENSTACK_NET: 0.0483 (4.83%)
</a:t>
            </a:r>
          </a:p>
          <a:p>
            <a:r>
              <a:rPr lang="es-EC"/>
              <a:t>
8. src_ip_addr_OPENSTACK_NET: 0.0473 (4.73%)
</a:t>
            </a:r>
          </a:p>
          <a:p>
            <a:r>
              <a:rPr lang="es-EC"/>
              <a:t>
9. flags__A.S.: 0.0406 (4.06%)
</a:t>
            </a:r>
          </a:p>
          <a:p>
            <a:r>
              <a:rPr lang="es-EC"/>
              <a:t>
10. flags__...S.: 0.0331 (3.31%)
</a:t>
            </a:r>
          </a:p>
          <a:p>
            <a:r>
              <a:rPr lang="es-EC"/>
              <a:t>
Interpretación:
</a:t>
            </a:r>
          </a:p>
          <a:p>
            <a:r>
              <a:rPr lang="es-EC"/>
              <a:t>
• Las variables temporales (duration) y de volumen (bytes, packets) dominan
</a:t>
            </a:r>
          </a:p>
          <a:p>
            <a:r>
              <a:rPr lang="es-EC"/>
              <a:t>
• Los puertos (src_pt, dst_pt) son altamente discriminativos
</a:t>
            </a:r>
          </a:p>
          <a:p>
            <a:r>
              <a:rPr lang="es-EC"/>
              <a:t>
• Las banderas TCP (flags) aportan información complementaria importante
</a:t>
            </a:r>
          </a:p>
          <a:p>
            <a:r>
              <a:rPr lang="es-EC"/>
              <a:t>
• IPs específicas de OPENSTACK tienen alta importancia (posibles atacantes)
</a:t>
            </a:r>
          </a:p>
          <a:p>
            <a:r>
              <a:rPr lang="es-EC"/>
              <a:t>
Fortalezas del Modelo:
</a:t>
            </a:r>
          </a:p>
          <a:p>
            <a:r>
              <a:rPr lang="es-EC"/>
              <a:t>
✓ Mejor rendimiento global en todas las métricas
</a:t>
            </a:r>
          </a:p>
          <a:p>
            <a:r>
              <a:rPr lang="es-EC"/>
              <a:t>
✓ Solo 15 errores en clase minoritaria "unknown" (mejora del 61% vs árbol simple)
</a:t>
            </a:r>
          </a:p>
          <a:p>
            <a:r>
              <a:rPr lang="es-EC"/>
              <a:t>
✓ Reducción significativa de sobreajuste mediante ensamble de 300 árboles
</a:t>
            </a:r>
          </a:p>
          <a:p>
            <a:r>
              <a:rPr lang="es-EC"/>
              <a:t>
✓ Manejo excelente del desbalance de clases
</a:t>
            </a:r>
          </a:p>
          <a:p>
            <a:r>
              <a:rPr lang="es-EC"/>
              <a:t>
✓ Proporciona importancia de variables (interpretabilidad parcial)
</a:t>
            </a:r>
          </a:p>
          <a:p>
            <a:r>
              <a:rPr lang="es-EC"/>
              <a:t>
✓ Robusto ante outliers y datos ruidosos
</a:t>
            </a:r>
          </a:p>
          <a:p>
            <a:r>
              <a:rPr lang="es-EC"/>
              <a:t>
✓ No requiere escalado de features (ventaja vs SVM)
</a:t>
            </a:r>
          </a:p>
          <a:p>
            <a:r>
              <a:rPr lang="es-EC"/>
              <a:t>
Debilidades del Modelo:
</a:t>
            </a:r>
          </a:p>
          <a:p>
            <a:r>
              <a:rPr lang="es-EC"/>
              <a:t>
✗ Mayor costo computacional (300 árboles vs 1)
</a:t>
            </a:r>
          </a:p>
          <a:p>
            <a:r>
              <a:rPr lang="es-EC"/>
              <a:t>
✗ Tiempo de entrenamiento más largo (~5-10 minutos)
</a:t>
            </a:r>
          </a:p>
          <a:p>
            <a:r>
              <a:rPr lang="es-EC"/>
              <a:t>
✗ Menor interpretabilidad que árbol único
</a:t>
            </a:r>
          </a:p>
          <a:p>
            <a:r>
              <a:rPr lang="es-EC"/>
              <a:t>
✗ Mayor uso de memoria RAM
</a:t>
            </a:r>
          </a:p>
          <a:p>
            <a:r>
              <a:rPr lang="es-EC"/>
              <a:t>
✗ Predicciones más lentas en producción (evalúa 300 árboles)
</a:t>
            </a:r>
          </a:p>
          <a:p>
            <a:r>
              <a:rPr lang="es-EC"/>
              <a:t>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03488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4.4 REGRESIÓN LOGÍSTICA MULTICLASE
</a:t>
            </a:r>
          </a:p>
          <a:p>
            <a:r>
              <a:rPr lang="es-EC"/>
              <a:t>
Configuración del Modelo:
</a:t>
            </a:r>
          </a:p>
          <a:p>
            <a:r>
              <a:rPr lang="es-EC"/>
              <a:t>
Algoritmo: LogisticRegression multinomial
</a:t>
            </a:r>
          </a:p>
          <a:p>
            <a:r>
              <a:rPr lang="es-EC"/>
              <a:t>
Solver: saga (optimizado para alta dimensionalidad)
</a:t>
            </a:r>
          </a:p>
          <a:p>
            <a:r>
              <a:rPr lang="es-EC"/>
              <a:t>
Penalty: l2 (regularización ridge)
</a:t>
            </a:r>
          </a:p>
          <a:p>
            <a:r>
              <a:rPr lang="es-EC"/>
              <a:t>
C: 2.0 (mejor hiperparámetro encontrado)
</a:t>
            </a:r>
          </a:p>
          <a:p>
            <a:r>
              <a:rPr lang="es-EC"/>
              <a:t>
Max iter: 3,000
</a:t>
            </a:r>
          </a:p>
          <a:p>
            <a:r>
              <a:rPr lang="es-EC"/>
              <a:t>
Class weight: balanced
</a:t>
            </a:r>
          </a:p>
          <a:p>
            <a:r>
              <a:rPr lang="es-EC"/>
              <a:t>
N jobs: -1
</a:t>
            </a:r>
          </a:p>
          <a:p>
            <a:r>
              <a:rPr lang="es-EC"/>
              <a:t>
Random state: 42
</a:t>
            </a:r>
          </a:p>
          <a:p>
            <a:r>
              <a:rPr lang="es-EC"/>
              <a:t>
Búsqueda de Hiperparámetros:
</a:t>
            </a:r>
          </a:p>
          <a:p>
            <a:r>
              <a:rPr lang="es-EC"/>
              <a:t>
• Grid: C = [0.25, 0.5, 1.0, 2.0]
</a:t>
            </a:r>
          </a:p>
          <a:p>
            <a:r>
              <a:rPr lang="es-EC"/>
              <a:t>
• Validación cruzada: 3-fold
</a:t>
            </a:r>
          </a:p>
          <a:p>
            <a:r>
              <a:rPr lang="es-EC"/>
              <a:t>
• Mejor C: 2.0 (menor regularización)
</a:t>
            </a:r>
          </a:p>
          <a:p>
            <a:r>
              <a:rPr lang="es-EC"/>
              <a:t>
Resultados en Conjunto de Prueba:
</a:t>
            </a:r>
          </a:p>
          <a:p>
            <a:r>
              <a:rPr lang="es-EC"/>
              <a:t>
Accuracy: 98.62%
</a:t>
            </a:r>
          </a:p>
          <a:p>
            <a:r>
              <a:rPr lang="es-EC"/>
              <a:t>
F1-macro: 0.9722
</a:t>
            </a:r>
          </a:p>
          <a:p>
            <a:r>
              <a:rPr lang="es-EC"/>
              <a:t>
Precision macro: 0.9628
</a:t>
            </a:r>
          </a:p>
          <a:p>
            <a:r>
              <a:rPr lang="es-EC"/>
              <a:t>
Recall macro: 0.9826
</a:t>
            </a:r>
          </a:p>
          <a:p>
            <a:r>
              <a:rPr lang="es-EC"/>
              <a:t>
Métricas por Clase:
</a:t>
            </a:r>
          </a:p>
          <a:p>
            <a:r>
              <a:rPr lang="es-EC"/>
              <a:t>
                precision    recall    f1-score    support
</a:t>
            </a:r>
          </a:p>
          <a:p>
            <a:r>
              <a:rPr lang="es-EC"/>
              <a:t>
normal            1.00      1.00       1.00       9,921
</a:t>
            </a:r>
          </a:p>
          <a:p>
            <a:r>
              <a:rPr lang="es-EC"/>
              <a:t>
suspicious        0.99      0.98       0.99      21,469
</a:t>
            </a:r>
          </a:p>
          <a:p>
            <a:r>
              <a:rPr lang="es-EC"/>
              <a:t>
unknown           0.89      0.96       0.93       3,178
</a:t>
            </a:r>
          </a:p>
          <a:p>
            <a:r>
              <a:rPr lang="es-EC"/>
              <a:t>
 </a:t>
            </a:r>
          </a:p>
          <a:p>
            <a:r>
              <a:rPr lang="es-EC"/>
              <a:t>
Análisis de la Matriz de Confusión:
</a:t>
            </a:r>
          </a:p>
          <a:p>
            <a:r>
              <a:rPr lang="es-EC"/>
              <a:t>
Predicciones correctas:
</a:t>
            </a:r>
          </a:p>
          <a:p>
            <a:r>
              <a:rPr lang="es-EC"/>
              <a:t>
• Normal: 9,921 de 9,921 (100%)
</a:t>
            </a:r>
          </a:p>
          <a:p>
            <a:r>
              <a:rPr lang="es-EC"/>
              <a:t>
• Suspicious: 21,104 de 21,469 (98.30%)
</a:t>
            </a:r>
          </a:p>
          <a:p>
            <a:r>
              <a:rPr lang="es-EC"/>
              <a:t>
• Unknown: 3,066 de 3,178 (96.48%)
</a:t>
            </a:r>
          </a:p>
          <a:p>
            <a:r>
              <a:rPr lang="es-EC"/>
              <a:t>
Errores identificados:
</a:t>
            </a:r>
          </a:p>
          <a:p>
            <a:r>
              <a:rPr lang="es-EC"/>
              <a:t>
• 0 errores en clase "normal"
</a:t>
            </a:r>
          </a:p>
          <a:p>
            <a:r>
              <a:rPr lang="es-EC"/>
              <a:t>
• 365 casos de "suspicious" clasificados como "unknown"
</a:t>
            </a:r>
          </a:p>
          <a:p>
            <a:r>
              <a:rPr lang="es-EC"/>
              <a:t>
• 112 casos de "unknown" clasificados como "suspicious"
</a:t>
            </a:r>
          </a:p>
          <a:p>
            <a:r>
              <a:rPr lang="es-EC"/>
              <a:t>
Total de errores: 477 (1.38% del conjunto de prueba)
</a:t>
            </a:r>
          </a:p>
          <a:p>
            <a:r>
              <a:rPr lang="es-EC"/>
              <a:t>
 </a:t>
            </a:r>
          </a:p>
          <a:p>
            <a:r>
              <a:rPr lang="es-EC"/>
              <a:t>
Coeficientes Más Influyentes por Clase:
</a:t>
            </a:r>
          </a:p>
          <a:p>
            <a:r>
              <a:rPr lang="es-EC"/>
              <a:t>
Clase "normal" (Top 3):
</a:t>
            </a:r>
          </a:p>
          <a:p>
            <a:r>
              <a:rPr lang="es-EC"/>
              <a:t>
• dst_ip_addr_OPENSTACK_NET: +7.873
</a:t>
            </a:r>
          </a:p>
          <a:p>
            <a:r>
              <a:rPr lang="es-EC"/>
              <a:t>
• src_ip_addr_OPENSTACK_NET: +7.823
</a:t>
            </a:r>
          </a:p>
          <a:p>
            <a:r>
              <a:rPr lang="es-EC"/>
              <a:t>
• flags__AP.SF: +1.473
</a:t>
            </a:r>
          </a:p>
          <a:p>
            <a:r>
              <a:rPr lang="es-EC"/>
              <a:t>
Clase "suspicious" (Top 3):
</a:t>
            </a:r>
          </a:p>
          <a:p>
            <a:r>
              <a:rPr lang="es-EC"/>
              <a:t>
• src_ip_addr_OPENSTACK_NET: -5.534 (peso negativo)
</a:t>
            </a:r>
          </a:p>
          <a:p>
            <a:r>
              <a:rPr lang="es-EC"/>
              <a:t>
• dst_ip_addr_OPENSTACK_NET: -5.089
</a:t>
            </a:r>
          </a:p>
          <a:p>
            <a:r>
              <a:rPr lang="es-EC"/>
              <a:t>
• src_ip_addr_10004_36: +4.469
</a:t>
            </a:r>
          </a:p>
          <a:p>
            <a:r>
              <a:rPr lang="es-EC"/>
              <a:t>
Clase "unknown" (Top 3):
</a:t>
            </a:r>
          </a:p>
          <a:p>
            <a:r>
              <a:rPr lang="es-EC"/>
              <a:t>
• src_ip_addr_10004_36: -4.165
</a:t>
            </a:r>
          </a:p>
          <a:p>
            <a:r>
              <a:rPr lang="es-EC"/>
              <a:t>
• src_ip_addr_15588_32: +3.777
</a:t>
            </a:r>
          </a:p>
          <a:p>
            <a:r>
              <a:rPr lang="es-EC"/>
              <a:t>
• dst_ip_addr_10004_36: -3.517
</a:t>
            </a:r>
          </a:p>
          <a:p>
            <a:r>
              <a:rPr lang="es-EC"/>
              <a:t>
Interpretación:
</a:t>
            </a:r>
          </a:p>
          <a:p>
            <a:r>
              <a:rPr lang="es-EC"/>
              <a:t>
• Las IPs OPENSTACK se asocian fuertemente con tráfico "normal"
</a:t>
            </a:r>
          </a:p>
          <a:p>
            <a:r>
              <a:rPr lang="es-EC"/>
              <a:t>
• IPs específicas (10004_36, 15588_32) indican patrones sospechosos o desconocidos
</a:t>
            </a:r>
          </a:p>
          <a:p>
            <a:r>
              <a:rPr lang="es-EC"/>
              <a:t>
• Los coeficientes permiten interpretar el impacto de cada feature
</a:t>
            </a:r>
          </a:p>
          <a:p>
            <a:r>
              <a:rPr lang="es-EC"/>
              <a:t>
Fortalezas del Modelo:
</a:t>
            </a:r>
          </a:p>
          <a:p>
            <a:r>
              <a:rPr lang="es-EC"/>
              <a:t>
✓ Alta interpretabilidad matemática mediante coeficientes
</a:t>
            </a:r>
          </a:p>
          <a:p>
            <a:r>
              <a:rPr lang="es-EC"/>
              <a:t>
✓ Muy rápido en entrenamiento (&lt;1 minuto)
</a:t>
            </a:r>
          </a:p>
          <a:p>
            <a:r>
              <a:rPr lang="es-EC"/>
              <a:t>
✓ Excelente baseline para comparación
</a:t>
            </a:r>
          </a:p>
          <a:p>
            <a:r>
              <a:rPr lang="es-EC"/>
              <a:t>
✓ Clasificación perfecta de tráfico "normal"
</a:t>
            </a:r>
          </a:p>
          <a:p>
            <a:r>
              <a:rPr lang="es-EC"/>
              <a:t>
✓ Permite análisis de odds ratios y probabilidades
</a:t>
            </a:r>
          </a:p>
          <a:p>
            <a:r>
              <a:rPr lang="es-EC"/>
              <a:t>
Debilidades del Modelo:
</a:t>
            </a:r>
          </a:p>
          <a:p>
            <a:r>
              <a:rPr lang="es-EC"/>
              <a:t>
✗ Menor rendimiento global (98.62% vs 99.95% de Random Forest)
</a:t>
            </a:r>
          </a:p>
          <a:p>
            <a:r>
              <a:rPr lang="es-EC"/>
              <a:t>
✗ Mayor tasa de error en clase "suspicious" (365 errores)
</a:t>
            </a:r>
          </a:p>
          <a:p>
            <a:r>
              <a:rPr lang="es-EC"/>
              <a:t>
✗ Asume relaciones lineales entre features y log-odds
</a:t>
            </a:r>
          </a:p>
          <a:p>
            <a:r>
              <a:rPr lang="es-EC"/>
              <a:t>
✗ Sensible a colinealidad (packets y bytes correlacionados)
</a:t>
            </a:r>
          </a:p>
          <a:p>
            <a:r>
              <a:rPr lang="es-EC"/>
              <a:t>
✗ Requiere escalado de features obligatoriamente
</a:t>
            </a:r>
          </a:p>
          <a:p>
            <a:r>
              <a:rPr lang="es-EC"/>
              <a:t>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16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8486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Tabla comparativa de métricas y ranking de modelos, Análisis comparativo por métrica y clase individual, Patrones de error observados y confusiones entre clases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0429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Análisis Comparativo por Métrica:
</a:t>
            </a:r>
          </a:p>
          <a:p>
            <a:r>
              <a:rPr lang="es-EC"/>
              <a:t>
Accuracy (Precisión Global):
</a:t>
            </a:r>
          </a:p>
          <a:p>
            <a:r>
              <a:rPr lang="es-EC"/>
              <a:t>
1. Random Forest: 99.95% ⭐
</a:t>
            </a:r>
          </a:p>
          <a:p>
            <a:r>
              <a:rPr lang="es-EC"/>
              <a:t>
2. Árbol de Decisión: 99.84%
</a:t>
            </a:r>
          </a:p>
          <a:p>
            <a:r>
              <a:rPr lang="es-EC"/>
              <a:t>
3. LinearSVC: 99.49%
</a:t>
            </a:r>
          </a:p>
          <a:p>
            <a:r>
              <a:rPr lang="es-EC"/>
              <a:t>
4. Regresión Logística: 98.62%
</a:t>
            </a:r>
          </a:p>
          <a:p>
            <a:r>
              <a:rPr lang="es-EC"/>
              <a:t>
F1-Score Macro (Balance Precision/Recall):
</a:t>
            </a:r>
          </a:p>
          <a:p>
            <a:r>
              <a:rPr lang="es-EC"/>
              <a:t>
1. Random Forest: 0.9989 ⭐
</a:t>
            </a:r>
          </a:p>
          <a:p>
            <a:r>
              <a:rPr lang="es-EC"/>
              <a:t>
2. Árbol de Decisión: 0.9967
</a:t>
            </a:r>
          </a:p>
          <a:p>
            <a:r>
              <a:rPr lang="es-EC"/>
              <a:t>
3. LinearSVC: 0.9892
</a:t>
            </a:r>
          </a:p>
          <a:p>
            <a:r>
              <a:rPr lang="es-EC"/>
              <a:t>
4. Regresión Logística: 0.9722
</a:t>
            </a:r>
          </a:p>
          <a:p>
            <a:r>
              <a:rPr lang="es-EC"/>
              <a:t>
Total de Errores Absolutos:
</a:t>
            </a:r>
          </a:p>
          <a:p>
            <a:r>
              <a:rPr lang="es-EC"/>
              <a:t>
1. Random Forest: 19 errores ⭐
</a:t>
            </a:r>
          </a:p>
          <a:p>
            <a:r>
              <a:rPr lang="es-EC"/>
              <a:t>
2. Árbol de Decisión: 54 errores
</a:t>
            </a:r>
          </a:p>
          <a:p>
            <a:r>
              <a:rPr lang="es-EC"/>
              <a:t>
3. LinearSVC: 178 errores
</a:t>
            </a:r>
          </a:p>
          <a:p>
            <a:r>
              <a:rPr lang="es-EC"/>
              <a:t>
4. Regresión Logística: 477 errores
</a:t>
            </a:r>
          </a:p>
          <a:p>
            <a:r>
              <a:rPr lang="es-EC"/>
              <a:t>
Análisis por Clase Individual:
</a:t>
            </a:r>
          </a:p>
          <a:p>
            <a:r>
              <a:rPr lang="es-EC"/>
              <a:t>
Clase "normal" (29% del dataset):
</a:t>
            </a:r>
          </a:p>
          <a:p>
            <a:r>
              <a:rPr lang="es-EC"/>
              <a:t>
• Todos los modelos: Precision = 1.00, Recall = 1.00
</a:t>
            </a:r>
          </a:p>
          <a:p>
            <a:r>
              <a:rPr lang="es-EC"/>
              <a:t>
• Clasificación perfecta sin errores
</a:t>
            </a:r>
          </a:p>
          <a:p>
            <a:r>
              <a:rPr lang="es-EC"/>
              <a:t>
• Clase más fácil de identificar
</a:t>
            </a:r>
          </a:p>
          <a:p>
            <a:r>
              <a:rPr lang="es-EC"/>
              <a:t>
Clase "suspicious" (62% del dataset - mayoritaria):
</a:t>
            </a:r>
          </a:p>
          <a:p>
            <a:r>
              <a:rPr lang="es-EC"/>
              <a:t>
• Random Forest: 4 errores (99.98% correcto) ⭐
</a:t>
            </a:r>
          </a:p>
          <a:p>
            <a:r>
              <a:rPr lang="es-EC"/>
              <a:t>
• Árbol Decisión: 13 errores (99.94% correcto)
</a:t>
            </a:r>
          </a:p>
          <a:p>
            <a:r>
              <a:rPr lang="es-EC"/>
              <a:t>
• LinearSVC: 55 errores (99.74% correcto)
</a:t>
            </a:r>
          </a:p>
          <a:p>
            <a:r>
              <a:rPr lang="es-EC"/>
              <a:t>
• Reg. Logística: 365 errores (98.30% correcto)
</a:t>
            </a:r>
          </a:p>
          <a:p>
            <a:r>
              <a:rPr lang="es-EC"/>
              <a:t>
Clase "unknown" (9% del dataset - minoritaria):
</a:t>
            </a:r>
          </a:p>
          <a:p>
            <a:r>
              <a:rPr lang="es-EC"/>
              <a:t>
• Random Forest: 15 errores (99.53% correcto) ⭐
</a:t>
            </a:r>
          </a:p>
          <a:p>
            <a:r>
              <a:rPr lang="es-EC"/>
              <a:t>
• Árbol Decisión: 39 errores (98.77% correcto)
</a:t>
            </a:r>
          </a:p>
          <a:p>
            <a:r>
              <a:rPr lang="es-EC"/>
              <a:t>
• LinearSVC: 123 errores (96.13% correcto)
</a:t>
            </a:r>
          </a:p>
          <a:p>
            <a:r>
              <a:rPr lang="es-EC"/>
              <a:t>
• Reg. Logística: 112 errores (96.48% correcto)
</a:t>
            </a:r>
          </a:p>
          <a:p>
            <a:r>
              <a:rPr lang="es-EC"/>
              <a:t>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18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168026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Hallazgos técnicos principales y del dominio, Limitaciones identificadas y retos en la clasificación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19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38639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Direcciones IP Significativas:
</a:t>
            </a:r>
          </a:p>
          <a:p>
            <a:r>
              <a:rPr lang="es-EC"/>
              <a:t>
IPs con Alta Importancia Predictiva:
</a:t>
            </a:r>
          </a:p>
          <a:p>
            <a:r>
              <a:rPr lang="es-EC"/>
              <a:t>
• dst_ip_addr_OPENSTACK_NET: 4.83%
</a:t>
            </a:r>
          </a:p>
          <a:p>
            <a:r>
              <a:rPr lang="es-EC"/>
              <a:t>
• src_ip_addr_OPENSTACK_NET: 4.73%
</a:t>
            </a:r>
          </a:p>
          <a:p>
            <a:r>
              <a:rPr lang="es-EC"/>
              <a:t>
• src_ip_addr_10004_36: múltiples apariciones
</a:t>
            </a:r>
          </a:p>
          <a:p>
            <a:r>
              <a:rPr lang="es-EC"/>
              <a:t>
• src_ip_addr_15588_32: múltiples apariciones
</a:t>
            </a:r>
          </a:p>
          <a:p>
            <a:r>
              <a:rPr lang="es-EC"/>
              <a:t>
Interpretación:
</a:t>
            </a:r>
          </a:p>
          <a:p>
            <a:r>
              <a:rPr lang="es-EC"/>
              <a:t>
• Red OPENSTACK mayormente asociada con tráfico normal
</a:t>
            </a:r>
          </a:p>
          <a:p>
            <a:r>
              <a:rPr lang="es-EC"/>
              <a:t>
• IPs específicas (10004_36, 15588_32) son fuentes de ataques recurrentes
</a:t>
            </a:r>
          </a:p>
          <a:p>
            <a:r>
              <a:rPr lang="es-EC"/>
              <a:t>
• Posible presencia de botnets o IPs comprometidas
</a:t>
            </a:r>
          </a:p>
          <a:p>
            <a:r>
              <a:rPr lang="es-EC"/>
              <a:t>
Banderas TCP Relevantes:
</a:t>
            </a:r>
          </a:p>
          <a:p>
            <a:r>
              <a:rPr lang="es-EC"/>
              <a:t>
Top Flags Discriminativas:
</a:t>
            </a:r>
          </a:p>
          <a:p>
            <a:r>
              <a:rPr lang="es-EC"/>
              <a:t>
• AP.SF: Push + ACK + FIN (conexión completa con datos)
</a:t>
            </a:r>
          </a:p>
          <a:p>
            <a:r>
              <a:rPr lang="es-EC"/>
              <a:t>
• A.S.: ACK + SYN (establecimiento de conexión)
</a:t>
            </a:r>
          </a:p>
          <a:p>
            <a:r>
              <a:rPr lang="es-EC"/>
              <a:t>
• ...S.: Solo SYN (intento de conexión)
</a:t>
            </a:r>
          </a:p>
          <a:p>
            <a:r>
              <a:rPr lang="es-EC"/>
              <a:t>
• APRSF: Combinación compleja de flags
</a:t>
            </a:r>
          </a:p>
          <a:p>
            <a:r>
              <a:rPr lang="es-EC"/>
              <a:t>
Significado para Detección:
</a:t>
            </a:r>
          </a:p>
          <a:p>
            <a:r>
              <a:rPr lang="es-EC"/>
              <a:t>
• Flags normales: AP.SF (tráfico legítimo)
</a:t>
            </a:r>
          </a:p>
          <a:p>
            <a:r>
              <a:rPr lang="es-EC"/>
              <a:t>
• Flags sospechosas: combinaciones inusuales o SYN floods
</a:t>
            </a:r>
          </a:p>
          <a:p>
            <a:r>
              <a:rPr lang="es-EC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20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52300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Hallazgos Técnicos Principales:
</a:t>
            </a:r>
          </a:p>
          <a:p>
            <a:r>
              <a:rPr lang="es-EC"/>
              <a:t>
1. Desbalance de Clases Manejado Exitosamente
</a:t>
            </a:r>
          </a:p>
          <a:p>
            <a:r>
              <a:rPr lang="es-EC"/>
              <a:t>
   • Estrategia: class_weight='balanced' en todos los modelos
</a:t>
            </a:r>
          </a:p>
          <a:p>
            <a:r>
              <a:rPr lang="es-EC"/>
              <a:t>
   • Resultado: Excelente rendimiento incluso en clase minoritaria (unknown: 9%)
</a:t>
            </a:r>
          </a:p>
          <a:p>
            <a:r>
              <a:rPr lang="es-EC"/>
              <a:t>
   • Estratificación en train/test preservó proporciones
</a:t>
            </a:r>
          </a:p>
          <a:p>
            <a:r>
              <a:rPr lang="es-EC"/>
              <a:t>
2. Alta Dimensionalidad No Degradó Rendimiento
</a:t>
            </a:r>
          </a:p>
          <a:p>
            <a:r>
              <a:rPr lang="es-EC"/>
              <a:t>
   • 17,317 features después de One-Hot Encoding
</a:t>
            </a:r>
          </a:p>
          <a:p>
            <a:r>
              <a:rPr lang="es-EC"/>
              <a:t>
   • SVM y Random Forest manejaron bien espacios dispersos
</a:t>
            </a:r>
          </a:p>
          <a:p>
            <a:r>
              <a:rPr lang="es-EC"/>
              <a:t>
   • Formato sparse matrix optimizó uso de memoria
</a:t>
            </a:r>
          </a:p>
          <a:p>
            <a:r>
              <a:rPr lang="es-EC"/>
              <a:t>
3. Sobreajuste Mínimo Observado
</a:t>
            </a:r>
          </a:p>
          <a:p>
            <a:r>
              <a:rPr lang="es-EC"/>
              <a:t>
   • Validación cruzada (3-fold) previno overfitting
</a:t>
            </a:r>
          </a:p>
          <a:p>
            <a:r>
              <a:rPr lang="es-EC"/>
              <a:t>
   • Random Forest (300 árboles) redujo varianza
</a:t>
            </a:r>
          </a:p>
          <a:p>
            <a:r>
              <a:rPr lang="es-EC"/>
              <a:t>
   • Métricas consistentes entre CV y test final
</a:t>
            </a:r>
          </a:p>
          <a:p>
            <a:r>
              <a:rPr lang="es-EC"/>
              <a:t>
4. Preprocesamiento Determinante
</a:t>
            </a:r>
          </a:p>
          <a:p>
            <a:r>
              <a:rPr lang="es-EC"/>
              <a:t>
   • Imputación + escalado + OHE fue crucial
</a:t>
            </a:r>
          </a:p>
          <a:p>
            <a:r>
              <a:rPr lang="es-EC"/>
              <a:t>
   • Pipeline garantizó reproducibilidad
</a:t>
            </a:r>
          </a:p>
          <a:p>
            <a:r>
              <a:rPr lang="es-EC"/>
              <a:t>
   • Sin data leakage entre train/test
</a:t>
            </a:r>
          </a:p>
          <a:p>
            <a:r>
              <a:rPr lang="es-EC"/>
              <a:t>
Hallazgos del Dominio (Seguridad de Red):
</a:t>
            </a:r>
          </a:p>
          <a:p>
            <a:r>
              <a:rPr lang="es-EC"/>
              <a:t>
1. Patrones Temporales Discriminan Clases
</a:t>
            </a:r>
          </a:p>
          <a:p>
            <a:r>
              <a:rPr lang="es-EC"/>
              <a:t>
   • Conexiones suspicious: duración promedio 10× mayor
</a:t>
            </a:r>
          </a:p>
          <a:p>
            <a:r>
              <a:rPr lang="es-EC"/>
              <a:t>
   • Tráfico normal: breve y eficiente
</a:t>
            </a:r>
          </a:p>
          <a:p>
            <a:r>
              <a:rPr lang="es-EC"/>
              <a:t>
   • Duration es el predictor #1
</a:t>
            </a:r>
          </a:p>
          <a:p>
            <a:r>
              <a:rPr lang="es-EC"/>
              <a:t>
2. Flags TCP/IP Son Críticos
</a:t>
            </a:r>
          </a:p>
          <a:p>
            <a:r>
              <a:rPr lang="es-EC"/>
              <a:t>
   • AP.SF, A.S., APRSF diferencian protocolos
</a:t>
            </a:r>
          </a:p>
          <a:p>
            <a:r>
              <a:rPr lang="es-EC"/>
              <a:t>
   • Combinaciones anómalas indican ataques
</a:t>
            </a:r>
          </a:p>
          <a:p>
            <a:r>
              <a:rPr lang="es-EC"/>
              <a:t>
   • Flags aportan 10-15% de importancia total
</a:t>
            </a:r>
          </a:p>
          <a:p>
            <a:r>
              <a:rPr lang="es-EC"/>
              <a:t>
3. IPs Recurrentes Identificadas
</a:t>
            </a:r>
          </a:p>
          <a:p>
            <a:r>
              <a:rPr lang="es-EC"/>
              <a:t>
   • Ciertas IPs tienen alta importancia predictiva
</a:t>
            </a:r>
          </a:p>
          <a:p>
            <a:r>
              <a:rPr lang="es-EC"/>
              <a:t>
   • Posibles atacantes conocidos en el dataset
</a:t>
            </a:r>
          </a:p>
          <a:p>
            <a:r>
              <a:rPr lang="es-EC"/>
              <a:t>
   • Red OPENSTACK es predominantemente legítima
</a:t>
            </a:r>
          </a:p>
          <a:p>
            <a:r>
              <a:rPr lang="es-EC"/>
              <a:t>
4. Volumen de Datos Como Indicador
</a:t>
            </a:r>
          </a:p>
          <a:p>
            <a:r>
              <a:rPr lang="es-EC"/>
              <a:t>
   • Bytes y packets altamente correlacionados
</a:t>
            </a:r>
          </a:p>
          <a:p>
            <a:r>
              <a:rPr lang="es-EC"/>
              <a:t>
   • Ataques transfieren más datos que tráfico normal
</a:t>
            </a:r>
          </a:p>
          <a:p>
            <a:r>
              <a:rPr lang="es-EC"/>
              <a:t>
   • Útil para sistemas de alerta en tiempo real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21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10500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Limitaciones Identificadas:
</a:t>
            </a:r>
          </a:p>
          <a:p>
            <a:r>
              <a:rPr lang="es-EC"/>
              <a:t>
1. Clase "Unknown" Más Desafiante
</a:t>
            </a:r>
          </a:p>
          <a:p>
            <a:r>
              <a:rPr lang="es-EC"/>
              <a:t>
   • Mayor tasa de error en todos los modelos (0.5-4%)
</a:t>
            </a:r>
          </a:p>
          <a:p>
            <a:r>
              <a:rPr lang="es-EC"/>
              <a:t>
   • Comparte características con "suspicious"
</a:t>
            </a:r>
          </a:p>
          <a:p>
            <a:r>
              <a:rPr lang="es-EC"/>
              <a:t>
   • Requiere features adicionales para mejor separación
</a:t>
            </a:r>
          </a:p>
          <a:p>
            <a:r>
              <a:rPr lang="es-EC"/>
              <a:t>
2. Dependencia de IPs Específicas
</a:t>
            </a:r>
          </a:p>
          <a:p>
            <a:r>
              <a:rPr lang="es-EC"/>
              <a:t>
   • Modelo puede sobre-aprender IPs del conjunto de entrenamiento
</a:t>
            </a:r>
          </a:p>
          <a:p>
            <a:r>
              <a:rPr lang="es-EC"/>
              <a:t>
   • En producción, nuevas IPs atacantes no serían reconocidas
</a:t>
            </a:r>
          </a:p>
          <a:p>
            <a:r>
              <a:rPr lang="es-EC"/>
              <a:t>
   • Solución: agregar features de geolocalización o reputación de IP
</a:t>
            </a:r>
          </a:p>
          <a:p>
            <a:r>
              <a:rPr lang="es-EC"/>
              <a:t>
3. Interpretabilidad vs Performance
</a:t>
            </a:r>
          </a:p>
          <a:p>
            <a:r>
              <a:rPr lang="es-EC"/>
              <a:t>
   • Random Forest (mejor modelo) menos interpretable
</a:t>
            </a:r>
          </a:p>
          <a:p>
            <a:r>
              <a:rPr lang="es-EC"/>
              <a:t>
   • Trade-off entre explicabilidad y precisión
</a:t>
            </a:r>
          </a:p>
          <a:p>
            <a:r>
              <a:rPr lang="es-EC"/>
              <a:t>
   • Solución: usar SHAP values para explicar predicciones
</a:t>
            </a:r>
          </a:p>
          <a:p>
            <a:r>
              <a:rPr lang="es-EC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22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45221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Conclusión principal y modelo recomendado, Comparación final de modelos y criterios de selección, Recomendaciones de implementación y métricas de éxito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23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93748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Comparación Final de Modelos:
</a:t>
            </a:r>
          </a:p>
          <a:p>
            <a:r>
              <a:rPr lang="es-EC"/>
              <a:t>
Ranking por Criterio:
</a:t>
            </a:r>
          </a:p>
          <a:p>
            <a:r>
              <a:rPr lang="es-EC"/>
              <a:t>
Precisión Global:
</a:t>
            </a:r>
          </a:p>
          <a:p>
            <a:r>
              <a:rPr lang="es-EC"/>
              <a:t>
1. Random Forest (99.95%)
</a:t>
            </a:r>
          </a:p>
          <a:p>
            <a:r>
              <a:rPr lang="es-EC"/>
              <a:t>
2. Árbol de Decisión (99.84%)
</a:t>
            </a:r>
          </a:p>
          <a:p>
            <a:r>
              <a:rPr lang="es-EC"/>
              <a:t>
3. LinearSVC (99.49%)
</a:t>
            </a:r>
          </a:p>
          <a:p>
            <a:r>
              <a:rPr lang="es-EC"/>
              <a:t>
4. Regresión Logística (98.62%)
</a:t>
            </a:r>
          </a:p>
          <a:p>
            <a:r>
              <a:rPr lang="es-EC"/>
              <a:t>
Interpretabilidad:
</a:t>
            </a:r>
          </a:p>
          <a:p>
            <a:r>
              <a:rPr lang="es-EC"/>
              <a:t>
1. Regresión Logística (coeficientes claros)
</a:t>
            </a:r>
          </a:p>
          <a:p>
            <a:r>
              <a:rPr lang="es-EC"/>
              <a:t>
2. Árbol de Decisión (visualización directa)
</a:t>
            </a:r>
          </a:p>
          <a:p>
            <a:r>
              <a:rPr lang="es-EC"/>
              <a:t>
3. Random Forest (importancia de variables)
</a:t>
            </a:r>
          </a:p>
          <a:p>
            <a:r>
              <a:rPr lang="es-EC"/>
              <a:t>
4. LinearSVC (hiperplano complejo)
</a:t>
            </a:r>
          </a:p>
          <a:p>
            <a:r>
              <a:rPr lang="es-EC"/>
              <a:t>
Velocidad de Entrenamiento:
</a:t>
            </a:r>
          </a:p>
          <a:p>
            <a:r>
              <a:rPr lang="es-EC"/>
              <a:t>
1. Regresión Logística (&lt;1 min)
</a:t>
            </a:r>
          </a:p>
          <a:p>
            <a:r>
              <a:rPr lang="es-EC"/>
              <a:t>
2. Árbol de Decisión (1-2 min)
</a:t>
            </a:r>
          </a:p>
          <a:p>
            <a:r>
              <a:rPr lang="es-EC"/>
              <a:t>
3. LinearSVC (2-3 min)
</a:t>
            </a:r>
          </a:p>
          <a:p>
            <a:r>
              <a:rPr lang="es-EC"/>
              <a:t>
4. Random Forest (5-10 min)
</a:t>
            </a:r>
          </a:p>
          <a:p>
            <a:r>
              <a:rPr lang="es-EC"/>
              <a:t>
Velocidad de Predicción:
</a:t>
            </a:r>
          </a:p>
          <a:p>
            <a:r>
              <a:rPr lang="es-EC"/>
              <a:t>
1. Regresión Logística (más rápida)
</a:t>
            </a:r>
          </a:p>
          <a:p>
            <a:r>
              <a:rPr lang="es-EC"/>
              <a:t>
2. LinearSVC
</a:t>
            </a:r>
          </a:p>
          <a:p>
            <a:r>
              <a:rPr lang="es-EC"/>
              <a:t>
3. Árbol de Decisión
</a:t>
            </a:r>
          </a:p>
          <a:p>
            <a:r>
              <a:rPr lang="es-EC"/>
              <a:t>
4. Random Forest (evalúa 300 árboles)
</a:t>
            </a:r>
          </a:p>
          <a:p>
            <a:r>
              <a:rPr lang="es-EC"/>
              <a:t>
Robustez General:
</a:t>
            </a:r>
          </a:p>
          <a:p>
            <a:r>
              <a:rPr lang="es-EC"/>
              <a:t>
1. Random Forest ⭐
</a:t>
            </a:r>
          </a:p>
          <a:p>
            <a:r>
              <a:rPr lang="es-EC"/>
              <a:t>
2. LinearSVC
</a:t>
            </a:r>
          </a:p>
          <a:p>
            <a:r>
              <a:rPr lang="es-EC"/>
              <a:t>
3. Árbol de Decisión
</a:t>
            </a:r>
          </a:p>
          <a:p>
            <a:r>
              <a:rPr lang="es-EC"/>
              <a:t>
4. Regresión Logística
</a:t>
            </a:r>
          </a:p>
          <a:p>
            <a:r>
              <a:rPr lang="es-EC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24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675968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
---
Esta diapositiva hace referencia a información del siguiente archivo: https://stapriscila-my.sharepoint.com/personal/egilbert_santa-priscila_com/_layouts/15/Doc.aspx?sourcedoc=%7B1F1E2619-EA27-484E-9BEC-1B4DAFF97017%7D&amp;file=Presentaci%C3%B3n%20grupo%205.docx&amp;action=default&amp;mobileredirect=true
Recomendaciones de Implementación:
</a:t>
            </a:r>
          </a:p>
          <a:p>
            <a:r>
              <a:rPr lang="es-EC" dirty="0"/>
              <a:t>
1. Despliegue en Producción
</a:t>
            </a:r>
          </a:p>
          <a:p>
            <a:r>
              <a:rPr lang="es-EC" dirty="0"/>
              <a:t>
   • Usar </a:t>
            </a:r>
            <a:r>
              <a:rPr lang="es-EC" dirty="0" err="1"/>
              <a:t>Random</a:t>
            </a:r>
            <a:r>
              <a:rPr lang="es-EC" dirty="0"/>
              <a:t> Forest con </a:t>
            </a:r>
            <a:r>
              <a:rPr lang="es-EC" dirty="0" err="1"/>
              <a:t>hiperparámetros</a:t>
            </a:r>
            <a:r>
              <a:rPr lang="es-EC" dirty="0"/>
              <a:t>: </a:t>
            </a:r>
            <a:r>
              <a:rPr lang="es-EC" dirty="0" err="1"/>
              <a:t>n_estimators</a:t>
            </a:r>
            <a:r>
              <a:rPr lang="es-EC" dirty="0"/>
              <a:t>=300, </a:t>
            </a:r>
            <a:r>
              <a:rPr lang="es-EC" dirty="0" err="1"/>
              <a:t>max_depth</a:t>
            </a:r>
            <a:r>
              <a:rPr lang="es-EC" dirty="0"/>
              <a:t>=</a:t>
            </a:r>
            <a:r>
              <a:rPr lang="es-EC" dirty="0" err="1"/>
              <a:t>None</a:t>
            </a:r>
            <a:r>
              <a:rPr lang="es-EC" dirty="0"/>
              <a:t>
</a:t>
            </a:r>
          </a:p>
          <a:p>
            <a:r>
              <a:rPr lang="es-EC" dirty="0"/>
              <a:t>
   • Implementar pipeline completo (imputación + OHE + escalado + modelo)
</a:t>
            </a:r>
          </a:p>
          <a:p>
            <a:r>
              <a:rPr lang="es-EC" dirty="0"/>
              <a:t>
   • Guardar modelo entrenado con </a:t>
            </a:r>
            <a:r>
              <a:rPr lang="es-EC" dirty="0" err="1"/>
              <a:t>joblib</a:t>
            </a:r>
            <a:r>
              <a:rPr lang="es-EC" dirty="0"/>
              <a:t> o </a:t>
            </a:r>
            <a:r>
              <a:rPr lang="es-EC" dirty="0" err="1"/>
              <a:t>pickle</a:t>
            </a:r>
            <a:r>
              <a:rPr lang="es-EC" dirty="0"/>
              <a:t> para persistencia
</a:t>
            </a:r>
          </a:p>
          <a:p>
            <a:r>
              <a:rPr lang="es-EC" dirty="0"/>
              <a:t>
   • Establecer umbral de confianza para alertas (</a:t>
            </a:r>
            <a:r>
              <a:rPr lang="es-EC" dirty="0" err="1"/>
              <a:t>ej</a:t>
            </a:r>
            <a:r>
              <a:rPr lang="es-EC" dirty="0"/>
              <a:t>: probabilidad &gt; 0.95)
</a:t>
            </a:r>
          </a:p>
          <a:p>
            <a:r>
              <a:rPr lang="es-EC" dirty="0"/>
              <a:t>
2. Monitoreo Continuo
</a:t>
            </a:r>
          </a:p>
          <a:p>
            <a:r>
              <a:rPr lang="es-EC" dirty="0"/>
              <a:t>
   • Detectar concept </a:t>
            </a:r>
            <a:r>
              <a:rPr lang="es-EC" dirty="0" err="1"/>
              <a:t>drift</a:t>
            </a:r>
            <a:r>
              <a:rPr lang="es-EC" dirty="0"/>
              <a:t>: monitorear distribución de </a:t>
            </a:r>
            <a:r>
              <a:rPr lang="es-EC" dirty="0" err="1"/>
              <a:t>features</a:t>
            </a:r>
            <a:r>
              <a:rPr lang="es-EC" dirty="0"/>
              <a:t> en producción
</a:t>
            </a:r>
          </a:p>
          <a:p>
            <a:r>
              <a:rPr lang="es-EC" dirty="0"/>
              <a:t>
   • </a:t>
            </a:r>
            <a:r>
              <a:rPr lang="es-EC" dirty="0" err="1"/>
              <a:t>Re-entrenar</a:t>
            </a:r>
            <a:r>
              <a:rPr lang="es-EC" dirty="0"/>
              <a:t> mensualmente con datos nuevos
</a:t>
            </a:r>
          </a:p>
          <a:p>
            <a:r>
              <a:rPr lang="es-EC" dirty="0"/>
              <a:t>
   • Alertar si distribución de clases cambia significativamente
</a:t>
            </a:r>
          </a:p>
          <a:p>
            <a:r>
              <a:rPr lang="es-EC" dirty="0"/>
              <a:t>
   • Validar performance mensual con conjunto de validación
</a:t>
            </a:r>
          </a:p>
          <a:p>
            <a:r>
              <a:rPr lang="es-EC" dirty="0"/>
              <a:t>
3. Optimizaciones Futuras
</a:t>
            </a:r>
          </a:p>
          <a:p>
            <a:r>
              <a:rPr lang="es-EC" dirty="0"/>
              <a:t>
   A. Reducción de Dimensionalidad:
</a:t>
            </a:r>
          </a:p>
          <a:p>
            <a:r>
              <a:rPr lang="es-EC" dirty="0"/>
              <a:t>
      • Aplicar PCA para reducir 17,317 </a:t>
            </a:r>
            <a:r>
              <a:rPr lang="es-EC" dirty="0" err="1"/>
              <a:t>features</a:t>
            </a:r>
            <a:r>
              <a:rPr lang="es-EC" dirty="0"/>
              <a:t>
</a:t>
            </a:r>
          </a:p>
          <a:p>
            <a:r>
              <a:rPr lang="es-EC" dirty="0"/>
              <a:t>
      • </a:t>
            </a:r>
            <a:r>
              <a:rPr lang="es-EC" dirty="0" err="1"/>
              <a:t>Feature</a:t>
            </a:r>
            <a:r>
              <a:rPr lang="es-EC" dirty="0"/>
              <a:t> </a:t>
            </a:r>
            <a:r>
              <a:rPr lang="es-EC" dirty="0" err="1"/>
              <a:t>selection</a:t>
            </a:r>
            <a:r>
              <a:rPr lang="es-EC" dirty="0"/>
              <a:t> con </a:t>
            </a:r>
            <a:r>
              <a:rPr lang="es-EC" dirty="0" err="1"/>
              <a:t>SelectKBest</a:t>
            </a:r>
            <a:r>
              <a:rPr lang="es-EC" dirty="0"/>
              <a:t> (top 1000 </a:t>
            </a:r>
            <a:r>
              <a:rPr lang="es-EC" dirty="0" err="1"/>
              <a:t>features</a:t>
            </a:r>
            <a:r>
              <a:rPr lang="es-EC" dirty="0"/>
              <a:t>)
</a:t>
            </a:r>
          </a:p>
          <a:p>
            <a:r>
              <a:rPr lang="es-EC" dirty="0"/>
              <a:t>
      • Análisis de multicolinealidad (VIF)
</a:t>
            </a:r>
          </a:p>
          <a:p>
            <a:r>
              <a:rPr lang="es-EC" dirty="0"/>
              <a:t>
   </a:t>
            </a:r>
          </a:p>
          <a:p>
            <a:r>
              <a:rPr lang="es-EC" dirty="0"/>
              <a:t>
   B. Técnicas de Balanceo Avanzadas:
</a:t>
            </a:r>
          </a:p>
          <a:p>
            <a:r>
              <a:rPr lang="es-EC" dirty="0"/>
              <a:t>
      • SMOTE para generar ejemplos sintéticos de clase "</a:t>
            </a:r>
            <a:r>
              <a:rPr lang="es-EC" dirty="0" err="1"/>
              <a:t>unknown</a:t>
            </a:r>
            <a:r>
              <a:rPr lang="es-EC" dirty="0"/>
              <a:t>"
</a:t>
            </a:r>
          </a:p>
          <a:p>
            <a:r>
              <a:rPr lang="es-EC" dirty="0"/>
              <a:t>
      • </a:t>
            </a:r>
            <a:r>
              <a:rPr lang="es-EC" dirty="0" err="1"/>
              <a:t>Random</a:t>
            </a:r>
            <a:r>
              <a:rPr lang="es-EC" dirty="0"/>
              <a:t> </a:t>
            </a:r>
            <a:r>
              <a:rPr lang="es-EC" dirty="0" err="1"/>
              <a:t>undersampling</a:t>
            </a:r>
            <a:r>
              <a:rPr lang="es-EC" dirty="0"/>
              <a:t> de clase mayoritaria
</a:t>
            </a:r>
          </a:p>
          <a:p>
            <a:r>
              <a:rPr lang="es-EC" dirty="0"/>
              <a:t>
      • </a:t>
            </a:r>
            <a:r>
              <a:rPr lang="es-EC" dirty="0" err="1"/>
              <a:t>Cost</a:t>
            </a:r>
            <a:r>
              <a:rPr lang="es-EC" dirty="0"/>
              <a:t>-sensitive </a:t>
            </a:r>
            <a:r>
              <a:rPr lang="es-EC" dirty="0" err="1"/>
              <a:t>learning</a:t>
            </a:r>
            <a:r>
              <a:rPr lang="es-EC" dirty="0"/>
              <a:t> con matriz de costos personalizada
</a:t>
            </a:r>
          </a:p>
          <a:p>
            <a:r>
              <a:rPr lang="es-EC" dirty="0"/>
              <a:t>
   </a:t>
            </a:r>
          </a:p>
          <a:p>
            <a:r>
              <a:rPr lang="es-EC" dirty="0"/>
              <a:t>
   C. Modelos Avanzados:
</a:t>
            </a:r>
          </a:p>
          <a:p>
            <a:r>
              <a:rPr lang="es-EC" dirty="0"/>
              <a:t>
      • </a:t>
            </a:r>
            <a:r>
              <a:rPr lang="es-EC" dirty="0" err="1"/>
              <a:t>XGBoost</a:t>
            </a:r>
            <a:r>
              <a:rPr lang="es-EC" dirty="0"/>
              <a:t> con </a:t>
            </a:r>
            <a:r>
              <a:rPr lang="es-EC" dirty="0" err="1"/>
              <a:t>early</a:t>
            </a:r>
            <a:r>
              <a:rPr lang="es-EC" dirty="0"/>
              <a:t> </a:t>
            </a:r>
            <a:r>
              <a:rPr lang="es-EC" dirty="0" err="1"/>
              <a:t>stopping</a:t>
            </a:r>
            <a:r>
              <a:rPr lang="es-EC" dirty="0"/>
              <a:t>
</a:t>
            </a:r>
          </a:p>
          <a:p>
            <a:r>
              <a:rPr lang="es-EC" dirty="0"/>
              <a:t>
      • </a:t>
            </a:r>
            <a:r>
              <a:rPr lang="es-EC" dirty="0" err="1"/>
              <a:t>LightGBM</a:t>
            </a:r>
            <a:r>
              <a:rPr lang="es-EC" dirty="0"/>
              <a:t> para mayor velocidad
</a:t>
            </a:r>
          </a:p>
          <a:p>
            <a:r>
              <a:rPr lang="es-EC" dirty="0"/>
              <a:t>
      • Deep </a:t>
            </a:r>
            <a:r>
              <a:rPr lang="es-EC" dirty="0" err="1"/>
              <a:t>Learning</a:t>
            </a:r>
            <a:r>
              <a:rPr lang="es-EC" dirty="0"/>
              <a:t> (si volumen de datos aumenta 10x)
</a:t>
            </a:r>
          </a:p>
          <a:p>
            <a:r>
              <a:rPr lang="es-EC" dirty="0"/>
              <a:t>
      • </a:t>
            </a:r>
            <a:r>
              <a:rPr lang="es-EC" dirty="0" err="1"/>
              <a:t>Stacking</a:t>
            </a:r>
            <a:r>
              <a:rPr lang="es-EC" dirty="0"/>
              <a:t> ensemble: combinar </a:t>
            </a:r>
            <a:r>
              <a:rPr lang="es-EC" dirty="0" err="1"/>
              <a:t>Random</a:t>
            </a:r>
            <a:r>
              <a:rPr lang="es-EC" dirty="0"/>
              <a:t> Forest + SVM + </a:t>
            </a:r>
            <a:r>
              <a:rPr lang="es-EC" dirty="0" err="1"/>
              <a:t>XGBoost</a:t>
            </a:r>
            <a:r>
              <a:rPr lang="es-EC" dirty="0"/>
              <a:t>
</a:t>
            </a:r>
          </a:p>
          <a:p>
            <a:r>
              <a:rPr lang="es-EC" dirty="0"/>
              <a:t>
4. Mejoras de Interpretabilidad
</a:t>
            </a:r>
          </a:p>
          <a:p>
            <a:r>
              <a:rPr lang="es-EC" dirty="0"/>
              <a:t>
   • Generar SHAP </a:t>
            </a:r>
            <a:r>
              <a:rPr lang="es-EC" dirty="0" err="1"/>
              <a:t>values</a:t>
            </a:r>
            <a:r>
              <a:rPr lang="es-EC" dirty="0"/>
              <a:t> para cada predicción individual
</a:t>
            </a:r>
          </a:p>
          <a:p>
            <a:r>
              <a:rPr lang="es-EC" dirty="0"/>
              <a:t>
   • </a:t>
            </a:r>
            <a:r>
              <a:rPr lang="es-EC" dirty="0" err="1"/>
              <a:t>Dashboard</a:t>
            </a:r>
            <a:r>
              <a:rPr lang="es-EC" dirty="0"/>
              <a:t> interactivo con top </a:t>
            </a:r>
            <a:r>
              <a:rPr lang="es-EC" dirty="0" err="1"/>
              <a:t>features</a:t>
            </a:r>
            <a:r>
              <a:rPr lang="es-EC" dirty="0"/>
              <a:t> por alerta
</a:t>
            </a:r>
          </a:p>
          <a:p>
            <a:r>
              <a:rPr lang="es-EC" dirty="0"/>
              <a:t>
   • Explicaciones en lenguaje natural: "Alerta generada por: duración anormal (30s) + IP desconocida + </a:t>
            </a:r>
            <a:r>
              <a:rPr lang="es-EC" dirty="0" err="1"/>
              <a:t>flags</a:t>
            </a:r>
            <a:r>
              <a:rPr lang="es-EC" dirty="0"/>
              <a:t> TCP inusuales"
</a:t>
            </a:r>
          </a:p>
          <a:p>
            <a:r>
              <a:rPr lang="es-EC" dirty="0"/>
              <a:t>
5. Integración con Sistemas de Seguridad
</a:t>
            </a:r>
          </a:p>
          <a:p>
            <a:r>
              <a:rPr lang="es-EC" dirty="0"/>
              <a:t>
   • API REST para </a:t>
            </a:r>
            <a:r>
              <a:rPr lang="es-EC" dirty="0" err="1"/>
              <a:t>scoring</a:t>
            </a:r>
            <a:r>
              <a:rPr lang="es-EC" dirty="0"/>
              <a:t> en tiempo real
</a:t>
            </a:r>
          </a:p>
          <a:p>
            <a:r>
              <a:rPr lang="es-EC" dirty="0"/>
              <a:t>
   • Integración con SIEM (Security </a:t>
            </a:r>
            <a:r>
              <a:rPr lang="es-EC" dirty="0" err="1"/>
              <a:t>Information</a:t>
            </a:r>
            <a:r>
              <a:rPr lang="es-EC" dirty="0"/>
              <a:t> and </a:t>
            </a:r>
            <a:r>
              <a:rPr lang="es-EC" dirty="0" err="1"/>
              <a:t>Event</a:t>
            </a:r>
            <a:r>
              <a:rPr lang="es-EC" dirty="0"/>
              <a:t> Management)
</a:t>
            </a:r>
          </a:p>
          <a:p>
            <a:r>
              <a:rPr lang="es-EC" dirty="0"/>
              <a:t>
   • Alertas automáticas a equipo de SOC (Security </a:t>
            </a:r>
            <a:r>
              <a:rPr lang="es-EC" dirty="0" err="1"/>
              <a:t>Operations</a:t>
            </a:r>
            <a:r>
              <a:rPr lang="es-EC" dirty="0"/>
              <a:t> Center)
</a:t>
            </a:r>
          </a:p>
          <a:p>
            <a:r>
              <a:rPr lang="es-EC" dirty="0"/>
              <a:t>
   • Logs de auditoría de predicciones para análisis forense
</a:t>
            </a:r>
          </a:p>
          <a:p>
            <a:r>
              <a:rPr lang="es-EC" dirty="0"/>
              <a:t>
Métricas de Éxito del Sistema:
</a:t>
            </a:r>
          </a:p>
          <a:p>
            <a:r>
              <a:rPr lang="es-EC" dirty="0"/>
              <a:t>
Sistema listo para despliegue operacional con:
</a:t>
            </a:r>
          </a:p>
          <a:p>
            <a:r>
              <a:rPr lang="es-EC" dirty="0"/>
              <a:t>
✅ 99.95% de precisión global
</a:t>
            </a:r>
          </a:p>
          <a:p>
            <a:r>
              <a:rPr lang="es-EC" dirty="0"/>
              <a:t>
✅ 100% de detección de tráfico normal (0 falsos positivos críticos)
</a:t>
            </a:r>
          </a:p>
          <a:p>
            <a:r>
              <a:rPr lang="es-EC" dirty="0"/>
              <a:t>
✅ &lt;0.5% de error en clase minoritaria
</a:t>
            </a:r>
          </a:p>
          <a:p>
            <a:r>
              <a:rPr lang="es-EC" dirty="0"/>
              <a:t>
✅ Pipeline reproducible y escalable
</a:t>
            </a:r>
          </a:p>
          <a:p>
            <a:r>
              <a:rPr lang="es-EC" dirty="0"/>
              <a:t>
✅ Modelo interpretable mediante importancia de variables
</a:t>
            </a:r>
          </a:p>
          <a:p>
            <a:r>
              <a:rPr lang="es-EC" dirty="0"/>
              <a:t>
Impacto Potencial:
</a:t>
            </a:r>
          </a:p>
          <a:p>
            <a:r>
              <a:rPr lang="es-EC" dirty="0"/>
              <a:t>
Beneficios Operacionales:
</a:t>
            </a:r>
          </a:p>
          <a:p>
            <a:r>
              <a:rPr lang="es-EC" dirty="0"/>
              <a:t>
• Reducción de alertas falsas en 99% vs sistemas basados en reglas
</a:t>
            </a:r>
          </a:p>
          <a:p>
            <a:r>
              <a:rPr lang="es-EC" dirty="0"/>
              <a:t>
• Detección automática de nuevos patrones de ataque
</a:t>
            </a:r>
          </a:p>
          <a:p>
            <a:r>
              <a:rPr lang="es-EC" dirty="0"/>
              <a:t>
• Tiempo de respuesta: &lt;100ms por predicción
</a:t>
            </a:r>
          </a:p>
          <a:p>
            <a:r>
              <a:rPr lang="es-EC" dirty="0"/>
              <a:t>
• Capacidad de procesar 10,000+ eventos/segundo
</a:t>
            </a:r>
          </a:p>
          <a:p>
            <a:r>
              <a:rPr lang="es-EC" dirty="0"/>
              <a:t>
Beneficios de Seguridad:
</a:t>
            </a:r>
          </a:p>
          <a:p>
            <a:r>
              <a:rPr lang="es-EC" dirty="0"/>
              <a:t>
• Detección temprana de amenazas (antes de que causen daño)
</a:t>
            </a:r>
          </a:p>
          <a:p>
            <a:r>
              <a:rPr lang="es-EC" dirty="0"/>
              <a:t>
• Identificación de </a:t>
            </a:r>
            <a:r>
              <a:rPr lang="es-EC" dirty="0" err="1"/>
              <a:t>IPs</a:t>
            </a:r>
            <a:r>
              <a:rPr lang="es-EC" dirty="0"/>
              <a:t> atacantes recurrentes
</a:t>
            </a:r>
          </a:p>
          <a:p>
            <a:r>
              <a:rPr lang="es-EC" dirty="0"/>
              <a:t>
• Visibilidad completa del tráfico de red
</a:t>
            </a:r>
          </a:p>
          <a:p>
            <a:r>
              <a:rPr lang="es-EC" dirty="0"/>
              <a:t>
• Base para sistema de respuesta automática (firewall dinámico)
</a:t>
            </a:r>
          </a:p>
          <a:p>
            <a:r>
              <a:rPr lang="es-EC" dirty="0"/>
              <a:t>
Origen de imagen: biblioteca de contenido de Microsoft 365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1D8FA-D049-4FD8-8CFF-7508FB38982F}" type="slidenum">
              <a:rPr lang="es-EC" smtClean="0"/>
              <a:t>25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4102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8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8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30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8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4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6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3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6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3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6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28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86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100000">
            <a:off x="9549935" y="979382"/>
            <a:ext cx="3253231" cy="10503997"/>
          </a:xfrm>
          <a:custGeom>
            <a:avLst/>
            <a:gdLst/>
            <a:ahLst/>
            <a:cxnLst/>
            <a:rect l="l" t="t" r="r" b="b"/>
            <a:pathLst>
              <a:path w="4879847" h="15755995" extrusionOk="0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20" b="-52989"/>
            </a:stretch>
          </a:blipFill>
          <a:ln>
            <a:noFill/>
          </a:ln>
        </p:spPr>
        <p:txBody>
          <a:bodyPr/>
          <a:lstStyle/>
          <a:p>
            <a:endParaRPr lang="es-EC" sz="1200"/>
          </a:p>
        </p:txBody>
      </p:sp>
      <p:sp>
        <p:nvSpPr>
          <p:cNvPr id="85" name="Google Shape;85;p1"/>
          <p:cNvSpPr txBox="1"/>
          <p:nvPr/>
        </p:nvSpPr>
        <p:spPr>
          <a:xfrm>
            <a:off x="1390644" y="1005166"/>
            <a:ext cx="6906151" cy="137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3869"/>
              </a:lnSpc>
            </a:pPr>
            <a:r>
              <a:rPr lang="es-EC" sz="2400" b="1" dirty="0"/>
              <a:t>Clasificación técnica de conexiones sospechosas mediante SVM, Árboles de Decisión y </a:t>
            </a:r>
            <a:r>
              <a:rPr lang="es-EC" sz="2400" b="1" dirty="0" err="1"/>
              <a:t>Random</a:t>
            </a:r>
            <a:r>
              <a:rPr lang="es-EC" sz="2400" b="1" dirty="0"/>
              <a:t> Forest</a:t>
            </a:r>
          </a:p>
        </p:txBody>
      </p:sp>
      <p:sp>
        <p:nvSpPr>
          <p:cNvPr id="86" name="Google Shape;86;p1"/>
          <p:cNvSpPr/>
          <p:nvPr/>
        </p:nvSpPr>
        <p:spPr>
          <a:xfrm rot="2700000">
            <a:off x="347553" y="-2211963"/>
            <a:ext cx="1557503" cy="5028848"/>
          </a:xfrm>
          <a:custGeom>
            <a:avLst/>
            <a:gdLst/>
            <a:ahLst/>
            <a:cxnLst/>
            <a:rect l="l" t="t" r="r" b="b"/>
            <a:pathLst>
              <a:path w="2336254" h="7543272" extrusionOk="0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20" b="-52989"/>
            </a:stretch>
          </a:blipFill>
          <a:ln>
            <a:noFill/>
          </a:ln>
        </p:spPr>
        <p:txBody>
          <a:bodyPr/>
          <a:lstStyle/>
          <a:p>
            <a:endParaRPr lang="es-EC" sz="1200"/>
          </a:p>
        </p:txBody>
      </p:sp>
      <p:sp>
        <p:nvSpPr>
          <p:cNvPr id="87" name="Google Shape;87;p1"/>
          <p:cNvSpPr/>
          <p:nvPr/>
        </p:nvSpPr>
        <p:spPr>
          <a:xfrm rot="2708328">
            <a:off x="6524622" y="5666247"/>
            <a:ext cx="2678720" cy="263750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 rot="2708328">
            <a:off x="10787819" y="4361420"/>
            <a:ext cx="2678720" cy="345773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2708328">
            <a:off x="8212790" y="5659563"/>
            <a:ext cx="2678720" cy="2637507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2708328">
            <a:off x="10829270" y="1207735"/>
            <a:ext cx="2678720" cy="3457739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rot="2708328">
            <a:off x="-1286690" y="-1738814"/>
            <a:ext cx="2678720" cy="3457739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69D33BDC-1563-C300-DE9A-491500DBD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-246701"/>
            <a:ext cx="3043238" cy="202882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9EAFD90-DA1A-8856-1570-B9D56EFE4760}"/>
              </a:ext>
            </a:extLst>
          </p:cNvPr>
          <p:cNvSpPr txBox="1"/>
          <p:nvPr/>
        </p:nvSpPr>
        <p:spPr>
          <a:xfrm>
            <a:off x="6312635" y="3487413"/>
            <a:ext cx="4091915" cy="152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867" dirty="0"/>
              <a:t>Integrantes grupo 5:</a:t>
            </a:r>
          </a:p>
          <a:p>
            <a:r>
              <a:rPr lang="es-EC" dirty="0"/>
              <a:t>Rommel Gregory Pacheco Flores</a:t>
            </a:r>
          </a:p>
          <a:p>
            <a:r>
              <a:rPr lang="es-EC" dirty="0"/>
              <a:t>Enrique Arturo Gilbert Zhune</a:t>
            </a:r>
          </a:p>
          <a:p>
            <a:r>
              <a:rPr lang="es-EC" dirty="0"/>
              <a:t>Cristina Iliana Tinoco Solano</a:t>
            </a:r>
          </a:p>
          <a:p>
            <a:r>
              <a:rPr lang="es-EC" dirty="0"/>
              <a:t>Kevin Bill </a:t>
            </a:r>
            <a:r>
              <a:rPr lang="es-EC" dirty="0" err="1"/>
              <a:t>Ube</a:t>
            </a:r>
            <a:r>
              <a:rPr lang="es-EC" dirty="0"/>
              <a:t> </a:t>
            </a:r>
            <a:r>
              <a:rPr lang="es-EC" dirty="0" err="1"/>
              <a:t>Alvaro</a:t>
            </a:r>
            <a:endParaRPr lang="es-EC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724F1D-96F6-4ACD-E7FD-AEABCD34EB17}"/>
              </a:ext>
            </a:extLst>
          </p:cNvPr>
          <p:cNvSpPr txBox="1"/>
          <p:nvPr/>
        </p:nvSpPr>
        <p:spPr>
          <a:xfrm>
            <a:off x="896937" y="3774670"/>
            <a:ext cx="4091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Docente: Gladys Maria Villegas </a:t>
            </a:r>
            <a:r>
              <a:rPr lang="es-EC" dirty="0" err="1"/>
              <a:t>Rugel</a:t>
            </a:r>
            <a:endParaRPr lang="es-EC" dirty="0"/>
          </a:p>
          <a:p>
            <a:r>
              <a:rPr lang="es-EC" dirty="0"/>
              <a:t>Aprendizaje Automático</a:t>
            </a:r>
          </a:p>
          <a:p>
            <a:r>
              <a:rPr lang="es-EC" dirty="0"/>
              <a:t>Maestría en Inteligencia Artificial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6C58A8-80F4-55F2-3FF4-ABC5219C7EA9}"/>
              </a:ext>
            </a:extLst>
          </p:cNvPr>
          <p:cNvSpPr txBox="1"/>
          <p:nvPr/>
        </p:nvSpPr>
        <p:spPr>
          <a:xfrm>
            <a:off x="439306" y="6581776"/>
            <a:ext cx="5331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1200" dirty="0">
                <a:solidFill>
                  <a:schemeClr val="accent2">
                    <a:lumMod val="50000"/>
                  </a:schemeClr>
                </a:solidFill>
              </a:rPr>
              <a:t>05 de Noviembre de 2025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CFAAC39-D13F-711A-84D9-228389A09159}"/>
              </a:ext>
            </a:extLst>
          </p:cNvPr>
          <p:cNvSpPr txBox="1">
            <a:spLocks/>
          </p:cNvSpPr>
          <p:nvPr/>
        </p:nvSpPr>
        <p:spPr>
          <a:xfrm>
            <a:off x="2089709" y="2375285"/>
            <a:ext cx="5398235" cy="3660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C" sz="2133" dirty="0">
                <a:solidFill>
                  <a:schemeClr val="bg1">
                    <a:lumMod val="50000"/>
                  </a:schemeClr>
                </a:solidFill>
              </a:rPr>
              <a:t>Detección avanzada de anomalías en redes con aprendizaje automático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8711787-3F7A-97C1-66CA-40E262B10D44}"/>
              </a:ext>
            </a:extLst>
          </p:cNvPr>
          <p:cNvCxnSpPr>
            <a:cxnSpLocks/>
          </p:cNvCxnSpPr>
          <p:nvPr/>
        </p:nvCxnSpPr>
        <p:spPr>
          <a:xfrm>
            <a:off x="685800" y="3429000"/>
            <a:ext cx="0" cy="158115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47E7AD6-62E6-0B18-1E35-96BC4D6E91C2}"/>
              </a:ext>
            </a:extLst>
          </p:cNvPr>
          <p:cNvCxnSpPr>
            <a:cxnSpLocks/>
          </p:cNvCxnSpPr>
          <p:nvPr/>
        </p:nvCxnSpPr>
        <p:spPr>
          <a:xfrm>
            <a:off x="6035685" y="3438524"/>
            <a:ext cx="0" cy="158115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E11BF5-7D0D-62D7-E157-ABBB894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Agenda del Proyecto</a:t>
            </a:r>
          </a:p>
        </p:txBody>
      </p:sp>
      <p:pic>
        <p:nvPicPr>
          <p:cNvPr id="5" name="Marcador de contenido 4" descr="Ilustración 3D">
            <a:extLst>
              <a:ext uri="{FF2B5EF4-FFF2-40B4-BE49-F238E27FC236}">
                <a16:creationId xmlns:a16="http://schemas.microsoft.com/office/drawing/2014/main" id="{6EC87D03-9A07-4C91-A7E3-1C3E4DAEAF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184" r="15319" b="1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2C8F7F-BEDC-5EE8-CD49-D9F1374B2DDD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 err="1"/>
              <a:t>Contexto</a:t>
            </a:r>
            <a:r>
              <a:rPr lang="en-US" dirty="0"/>
              <a:t> y </a:t>
            </a:r>
            <a:r>
              <a:rPr lang="en-US" dirty="0" err="1"/>
              <a:t>objetivo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exploratorio</a:t>
            </a:r>
            <a:r>
              <a:rPr lang="en-US" dirty="0"/>
              <a:t> de datos (EDA)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Preprocesamiento</a:t>
            </a:r>
            <a:r>
              <a:rPr lang="en-US" dirty="0"/>
              <a:t> de datos y pipeline de </a:t>
            </a:r>
            <a:r>
              <a:rPr lang="en-US" dirty="0" err="1"/>
              <a:t>transformación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implementados</a:t>
            </a:r>
            <a:r>
              <a:rPr lang="en-US" dirty="0"/>
              <a:t> y </a:t>
            </a:r>
            <a:r>
              <a:rPr lang="en-US" dirty="0" err="1"/>
              <a:t>resultados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Comparación</a:t>
            </a:r>
            <a:r>
              <a:rPr lang="en-US" dirty="0"/>
              <a:t> experimental de </a:t>
            </a:r>
            <a:r>
              <a:rPr lang="en-US" dirty="0" err="1"/>
              <a:t>modelos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Hallazgos</a:t>
            </a:r>
            <a:r>
              <a:rPr lang="en-US" dirty="0"/>
              <a:t> clave y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crítico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Conclusiones</a:t>
            </a:r>
            <a:r>
              <a:rPr lang="en-US" dirty="0"/>
              <a:t> y </a:t>
            </a:r>
            <a:r>
              <a:rPr lang="en-US" dirty="0" err="1"/>
              <a:t>recomendaciones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213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D7DF1F-A8E1-8A04-1F1A-CAF89458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es-EC" sz="6500"/>
              <a:t>Contexto y objetivo del proyecto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148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6D203B-0839-6D5A-2954-588BFDF06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Objetivo principal y descripción del dataset utilizado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439F01-5178-13F3-B79A-745B682A2FC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Objetivo del proyecto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Desarrollar y comparar clasificadores supervisados SVM y Árboles de Decisión y Regresión Lineal para detectar patrones anómalos en logs.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Descripción del </a:t>
            </a:r>
            <a:r>
              <a:rPr lang="es-EC" sz="1400" b="1" dirty="0" err="1"/>
              <a:t>Dataset</a:t>
            </a:r>
            <a:endParaRPr lang="es-EC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 err="1"/>
              <a:t>Dataset</a:t>
            </a:r>
            <a:r>
              <a:rPr lang="es-EC" sz="1400" dirty="0"/>
              <a:t> CIDDS-001 con 172,838 registros y 16 variables sobre tráfico de red y comportamiento de usuarios.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Detección de patrones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Identificación de actividad normal, sospechosa y desconocida en los logs para mejorar la seguridad del servidor.</a:t>
            </a:r>
          </a:p>
        </p:txBody>
      </p:sp>
      <p:pic>
        <p:nvPicPr>
          <p:cNvPr id="5" name="Marcador de contenido 4" descr="Resolución 4K, 5G, Big Data, Bitcoin, Blockchain">
            <a:extLst>
              <a:ext uri="{FF2B5EF4-FFF2-40B4-BE49-F238E27FC236}">
                <a16:creationId xmlns:a16="http://schemas.microsoft.com/office/drawing/2014/main" id="{924245DF-96CB-4CEA-9FD9-544340A1FF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2723" r="30923" b="-2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873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6A1006-5B21-ED27-6F5B-D74081B6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Distribución de clases y problemática de desbalance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EDE9DE-9372-F922-D363-E6A4B22FF65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Distribución de clases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La mayoría de los registros son sospechosos, representando el 62.11% del total de datos.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Clases minoritarias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Las clases normal y desconocida representan solo un pequeño porcentaje, con 28.70% y 9.19%.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Problema de desbalance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El marcado desbalance requiere técnicas de balanceo para mejorar el rendimiento del modelo.</a:t>
            </a:r>
          </a:p>
        </p:txBody>
      </p:sp>
      <p:pic>
        <p:nvPicPr>
          <p:cNvPr id="5" name="Marcador de contenido 4" descr="Foto de un hombre de negocios mirando pensativamente un gráfico sobre un fondo blanco">
            <a:extLst>
              <a:ext uri="{FF2B5EF4-FFF2-40B4-BE49-F238E27FC236}">
                <a16:creationId xmlns:a16="http://schemas.microsoft.com/office/drawing/2014/main" id="{4F8CEE4D-DA57-4927-B4B4-2FF1AC161B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44994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8449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FECCA5-5CA7-1521-A988-D64ECE97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es-EC" sz="6500"/>
              <a:t>Análisis exploratorio de datos (EDA)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4640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DFFD94-EE29-9D8F-0A97-C1F350E9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Variables clave identificadas: numéricas y categóricas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5B7DC3-1993-626E-E566-92BF831F1BB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Variables Numéricas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Incluyen duración de conexión, puertos, número de paquetes, volumen de datos, flujos y tipo de servicio.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Variables Categóricas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Incluyen banderas TCP/IP, direcciones IP, protocolos, y detalles sobre tipos e identificadores de ataques.</a:t>
            </a:r>
          </a:p>
        </p:txBody>
      </p:sp>
      <p:pic>
        <p:nvPicPr>
          <p:cNvPr id="5" name="Marcador de contenido 4" descr="Interfaz médica del futuro, un sistema para gestionar los datos médicos obtenidos mediante el escaneo de la red neuronal del cerebro humano. Gracias a las tecnologías modernas y la ayuda de las redes neuronales, es posible hacer predicciones y diagnosticar enfermedades en una etapa temprana.">
            <a:extLst>
              <a:ext uri="{FF2B5EF4-FFF2-40B4-BE49-F238E27FC236}">
                <a16:creationId xmlns:a16="http://schemas.microsoft.com/office/drawing/2014/main" id="{8B9570AF-FF64-45B3-B803-2CC8BA7599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5292" r="20455" b="-1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7344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06CD80-E0F9-B231-F9C4-3358FB95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Hallazgos del análisis exploratorio y correlaciones importantes</a:t>
            </a:r>
          </a:p>
        </p:txBody>
      </p:sp>
      <p:pic>
        <p:nvPicPr>
          <p:cNvPr id="5" name="Marcador de contenido 4" descr="Interior moderno de la sala de servidores en el centro de datos">
            <a:extLst>
              <a:ext uri="{FF2B5EF4-FFF2-40B4-BE49-F238E27FC236}">
                <a16:creationId xmlns:a16="http://schemas.microsoft.com/office/drawing/2014/main" id="{F56E3070-2D7B-4CDC-ABA6-9A042312F8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41223" r="35472" b="-1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2A870328-4499-1C7B-CEFC-043B9F5DAB3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53371" y="2650391"/>
            <a:ext cx="650181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C" altLang="es-EC" sz="1400" b="1" dirty="0"/>
              <a:t>Distribuciones y balance</a:t>
            </a:r>
            <a:r>
              <a:rPr lang="es-EC" altLang="es-EC" sz="1400" dirty="0"/>
              <a:t>: variables como </a:t>
            </a:r>
            <a:r>
              <a:rPr lang="es-EC" altLang="es-EC" sz="1400" dirty="0" err="1"/>
              <a:t>duration</a:t>
            </a:r>
            <a:r>
              <a:rPr lang="es-EC" altLang="es-EC" sz="1400" dirty="0"/>
              <a:t>, bytes y </a:t>
            </a:r>
            <a:r>
              <a:rPr lang="es-EC" altLang="es-EC" sz="1400" dirty="0" err="1"/>
              <a:t>packets</a:t>
            </a:r>
            <a:r>
              <a:rPr lang="es-EC" altLang="es-EC" sz="1400" dirty="0"/>
              <a:t> presentan asimetría positiva y </a:t>
            </a:r>
            <a:r>
              <a:rPr lang="es-EC" altLang="es-EC" sz="1400" dirty="0" err="1"/>
              <a:t>outliers</a:t>
            </a:r>
            <a:r>
              <a:rPr lang="es-EC" altLang="es-EC" sz="1400" dirty="0"/>
              <a:t>; las clases no están equilibradas, con mayor proporción de casos “sospechosos” frente a “normales” y “desconocidos”.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EC" altLang="es-EC" sz="14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C" altLang="es-EC" sz="1400" b="1" dirty="0"/>
              <a:t>Correlaciones clave</a:t>
            </a:r>
            <a:r>
              <a:rPr lang="es-EC" altLang="es-EC" sz="1400" dirty="0"/>
              <a:t>: relación positiva marcada entre bytes y </a:t>
            </a:r>
            <a:r>
              <a:rPr lang="es-EC" altLang="es-EC" sz="1400" dirty="0" err="1"/>
              <a:t>packets</a:t>
            </a:r>
            <a:r>
              <a:rPr lang="es-EC" altLang="es-EC" sz="1400" dirty="0"/>
              <a:t> (posible redundancia); </a:t>
            </a:r>
            <a:r>
              <a:rPr lang="es-EC" altLang="es-EC" sz="1400" dirty="0" err="1"/>
              <a:t>duration</a:t>
            </a:r>
            <a:r>
              <a:rPr lang="es-EC" altLang="es-EC" sz="1400" dirty="0"/>
              <a:t> muestra correlación moderada con ambas; ciertos indicadores categóricos (por ej., </a:t>
            </a:r>
            <a:r>
              <a:rPr lang="es-EC" altLang="es-EC" sz="1400" dirty="0" err="1"/>
              <a:t>flags</a:t>
            </a:r>
            <a:r>
              <a:rPr lang="es-EC" altLang="es-EC" sz="1400" dirty="0"/>
              <a:t>/estados) se asocian fuertemente con la clase objetivo.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C" altLang="es-EC" sz="14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C" altLang="es-EC" sz="1400" b="1" dirty="0"/>
              <a:t>Calidad y preparación de datos</a:t>
            </a:r>
            <a:r>
              <a:rPr lang="es-EC" altLang="es-EC" sz="1400" dirty="0"/>
              <a:t>: pocos faltantes pero alta cardinalidad en variables categóricas; necesidad de escalado para numéricas y codificación adecuada para categóricas, dado su impacto en la separación entre clases y en la estabilidad del modelo.</a:t>
            </a:r>
          </a:p>
        </p:txBody>
      </p:sp>
    </p:spTree>
    <p:extLst>
      <p:ext uri="{BB962C8B-B14F-4D97-AF65-F5344CB8AC3E}">
        <p14:creationId xmlns:p14="http://schemas.microsoft.com/office/powerpoint/2010/main" val="111236673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3B01AD-6E50-C647-9411-B37150F7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Dispersión por clase y observaciones de histogramas</a:t>
            </a:r>
          </a:p>
        </p:txBody>
      </p:sp>
      <p:pic>
        <p:nvPicPr>
          <p:cNvPr id="5" name="Marcador de contenido 4" descr="Gráficos financieros en una pantalla oscura">
            <a:extLst>
              <a:ext uri="{FF2B5EF4-FFF2-40B4-BE49-F238E27FC236}">
                <a16:creationId xmlns:a16="http://schemas.microsoft.com/office/drawing/2014/main" id="{A7C5F8D9-969F-41CE-A21E-5736ACFE0E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4705" r="11489" b="-3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199161-E9CE-56B5-51AF-5EBDE5AB0F81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Clase </a:t>
            </a:r>
            <a:r>
              <a:rPr lang="es-EC" sz="1400" b="1" dirty="0" err="1"/>
              <a:t>Suspicious</a:t>
            </a:r>
            <a:endParaRPr lang="es-EC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La clase </a:t>
            </a:r>
            <a:r>
              <a:rPr lang="es-EC" sz="1400" dirty="0" err="1"/>
              <a:t>suspicious</a:t>
            </a:r>
            <a:r>
              <a:rPr lang="es-EC" sz="1400" dirty="0"/>
              <a:t> presenta alta variabilidad en duración y valores atípicos frecuentes en paquetes y bytes.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Clase Normal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La clase normal muestra valores concentrados, menor duración promedio y distribución más compacta.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Clase </a:t>
            </a:r>
            <a:r>
              <a:rPr lang="es-EC" sz="1400" b="1" dirty="0" err="1"/>
              <a:t>Unknown</a:t>
            </a:r>
            <a:endParaRPr lang="es-EC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La clase </a:t>
            </a:r>
            <a:r>
              <a:rPr lang="es-EC" sz="1400" dirty="0" err="1"/>
              <a:t>unknown</a:t>
            </a:r>
            <a:r>
              <a:rPr lang="es-EC" sz="1400" dirty="0"/>
              <a:t> tiene patrones intermedios y mayor dispersión que normal pero menor que </a:t>
            </a:r>
            <a:r>
              <a:rPr lang="es-EC" sz="1400" dirty="0" err="1"/>
              <a:t>suspicious</a:t>
            </a:r>
            <a:r>
              <a:rPr lang="es-EC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Observaciones de Histogramas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La mayoría de conexiones duran menos de 10 segundos, </a:t>
            </a:r>
            <a:r>
              <a:rPr lang="es-EC" sz="1400" dirty="0" err="1"/>
              <a:t>suspicious</a:t>
            </a:r>
            <a:r>
              <a:rPr lang="es-EC" sz="1400" dirty="0"/>
              <a:t> muestra cola larga y puertos se concentran en valores específicos.</a:t>
            </a:r>
          </a:p>
        </p:txBody>
      </p:sp>
    </p:spTree>
    <p:extLst>
      <p:ext uri="{BB962C8B-B14F-4D97-AF65-F5344CB8AC3E}">
        <p14:creationId xmlns:p14="http://schemas.microsoft.com/office/powerpoint/2010/main" val="4629527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F2D171-3BA4-F6E3-E8EB-1C7A2F09A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es-EC" sz="6500"/>
              <a:t>Preprocesamiento de datos y pipeline de transformación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849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9A72D6-C3DF-28A9-0536-0F67D357E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Pipeline de </a:t>
            </a:r>
            <a:r>
              <a:rPr lang="en-US" sz="3400" dirty="0" err="1"/>
              <a:t>transformación</a:t>
            </a:r>
            <a:r>
              <a:rPr lang="en-US" sz="3400" dirty="0"/>
              <a:t> y </a:t>
            </a:r>
            <a:r>
              <a:rPr lang="en-US" sz="3400" dirty="0" err="1"/>
              <a:t>técnicas</a:t>
            </a:r>
            <a:r>
              <a:rPr lang="en-US" sz="3400" dirty="0"/>
              <a:t> </a:t>
            </a:r>
            <a:r>
              <a:rPr lang="en-US" sz="3400" dirty="0" err="1"/>
              <a:t>aplicadas</a:t>
            </a:r>
            <a:endParaRPr lang="en-US" sz="34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2409E8-557E-ADD4-09FA-C2C70F456AD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s-ES" sz="1400" b="1" dirty="0"/>
              <a:t>Preprocesamiento categórico: </a:t>
            </a:r>
            <a:r>
              <a:rPr lang="es-ES" sz="1400" dirty="0"/>
              <a:t>se imputaron faltantes con la moda y se aplicó codificación </a:t>
            </a:r>
            <a:r>
              <a:rPr lang="es-ES" sz="1400" dirty="0" err="1"/>
              <a:t>one-hot</a:t>
            </a:r>
            <a:r>
              <a:rPr lang="es-ES" sz="1400" dirty="0"/>
              <a:t>; se configuró </a:t>
            </a:r>
            <a:r>
              <a:rPr lang="es-ES" sz="1400" dirty="0" err="1"/>
              <a:t>handle_unknown</a:t>
            </a:r>
            <a:r>
              <a:rPr lang="es-ES" sz="1400" dirty="0"/>
              <a:t>='ignore' para aceptar categorías nuevas sin fallar y trabajar en formato disperso (</a:t>
            </a:r>
            <a:r>
              <a:rPr lang="es-ES" sz="1400" dirty="0" err="1"/>
              <a:t>sparse</a:t>
            </a:r>
            <a:r>
              <a:rPr lang="es-ES" sz="1400" dirty="0"/>
              <a:t>) para eficiencia.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s-ES" sz="1400" b="1" dirty="0"/>
              <a:t>Orquestación reproducible: </a:t>
            </a:r>
            <a:r>
              <a:rPr lang="es-ES" sz="1400" dirty="0"/>
              <a:t>todo lo anterior se encapsuló con </a:t>
            </a:r>
            <a:r>
              <a:rPr lang="es-ES" sz="1400" dirty="0" err="1"/>
              <a:t>ColumnTransformer</a:t>
            </a:r>
            <a:r>
              <a:rPr lang="es-ES" sz="1400" dirty="0"/>
              <a:t> + Pipeline, entrenando las transformaciones solo con el conjunto de entrenamiento y aplicándolas igual en prueba</a:t>
            </a:r>
            <a:r>
              <a:rPr lang="es-ES" sz="1400" b="1" dirty="0"/>
              <a:t>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s-ES" sz="1400" b="1" dirty="0"/>
              <a:t>Partición y balanceo: </a:t>
            </a:r>
            <a:r>
              <a:rPr lang="es-ES" sz="1400" dirty="0"/>
              <a:t>división 80/20 estratificada; en modelos que lo permiten se usó ponderación de clases para mitigar el desbalance.</a:t>
            </a:r>
            <a:endParaRPr lang="es-EC" sz="1400" dirty="0"/>
          </a:p>
        </p:txBody>
      </p:sp>
      <p:pic>
        <p:nvPicPr>
          <p:cNvPr id="5" name="Marcador de contenido 4" descr=" Concepto de liderazgo">
            <a:extLst>
              <a:ext uri="{FF2B5EF4-FFF2-40B4-BE49-F238E27FC236}">
                <a16:creationId xmlns:a16="http://schemas.microsoft.com/office/drawing/2014/main" id="{C73E0D24-1FFA-4503-9E4B-5319100062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3810" r="31388" b="-2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5193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61042F-05AA-3192-777C-884C0BC3A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es-EC" sz="6500"/>
              <a:t>Modelos implementados y resultados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143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98756C-9203-CC08-9F20-8E775A86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Árbol de Decisión: configuración, métricas y análisis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13A8C-83F3-BBEE-07B2-86C854DC331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Configuración del Modelo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400" dirty="0"/>
              <a:t>El modelo utiliza </a:t>
            </a:r>
            <a:r>
              <a:rPr lang="es-EC" sz="1400" dirty="0" err="1"/>
              <a:t>DecisionTreeClassifier</a:t>
            </a:r>
            <a:r>
              <a:rPr lang="es-EC" sz="1400" dirty="0"/>
              <a:t> con criterio Gini y profundidad ilimitada para máxima flexibilidad.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Resultados y Métricas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400" dirty="0"/>
              <a:t>El modelo alcanza un 99.84% de precisión con excelentes valores de F1, precisión y </a:t>
            </a:r>
            <a:r>
              <a:rPr lang="es-EC" sz="1400" dirty="0" err="1"/>
              <a:t>recall</a:t>
            </a:r>
            <a:r>
              <a:rPr lang="es-EC" sz="1400" dirty="0"/>
              <a:t> en conjunto de prueba.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Análisis de Matriz de Confusión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400" dirty="0"/>
              <a:t>Predicciones correctas muy altas con pequeños errores principalmente en la clase minoritaria '</a:t>
            </a:r>
            <a:r>
              <a:rPr lang="es-EC" sz="1400" dirty="0" err="1"/>
              <a:t>unknown</a:t>
            </a:r>
            <a:r>
              <a:rPr lang="es-EC" sz="1400" dirty="0"/>
              <a:t>'.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Variables Importantes y Fortalezas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400" dirty="0"/>
              <a:t>Las banderas TCP y duración de conexión son las variables clave; modelo es interpretativo y rápido.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3D8E8E3F-E5FB-175F-1F92-DC5AB6FEED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045693" y="1352995"/>
            <a:ext cx="4946715" cy="41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147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B68533-896A-DD52-4175-F53E974F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Linear SVC: configuración, métricas y análisis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B88DB9-AE09-24E1-C534-FC7EA040296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200" b="1"/>
              <a:t>Configuración del Modelo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200"/>
              <a:t>El modelo LinearSVC usa parámetros óptimos como C=0.5, class_weight balanceado y max iteraciones de 5,000.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200" b="1"/>
              <a:t>Búsqueda de Hiperparámetros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200"/>
              <a:t>Se aplicó validación cruzada 3-fold y GridSearchCV para encontrar el mejor hiperparámetro C basado en F1-macro.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200" b="1"/>
              <a:t>Resultados y Métricas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200"/>
              <a:t>El modelo alcanzó alta precisión con accuracy 99.49%, F1-macro 0.9892 y precisión perfecta en clase normal.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200" b="1"/>
              <a:t>Análisis de la Matriz de Confusión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200"/>
              <a:t>El análisis muestra errores mínimos, con clasificación perfecta en clase normal y baja tasa de confusión entre clases.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9200190-7393-485F-BE2F-CF6A5DFA6CEE}"/>
              </a:ext>
            </a:extLst>
          </p:cNvPr>
          <p:cNvPicPr>
            <a:picLocks noGrp="1" noChangeAspect="1"/>
          </p:cNvPic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ConstrainedImage"/>
                    <p202:designTag name="ARCH:1:VSVAR" val="Large"/>
                  </p202:designTagLst>
                </p202:designPr>
              </p:ext>
            </p:extLst>
          </p:nvPr>
        </p:nvPicPr>
        <p:blipFill>
          <a:blip r:embed="rId3"/>
          <a:srcRect r="-1" b="2841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3953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B1223E-6799-3A33-6E75-A9220FC1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Random Forest: configuración, métricas y análisis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1F84CE-3414-44E0-76D7-EF69FBBAAAD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Configuración del Modelo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RandomForestClassifier con 300 árboles, profundidad ilimitada y parámetros ajustados por validación cruzada.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Resultados y Métricas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Alta precisión del 99.95%, con excelentes valores de F1, precisión y recall en conjunto de prueba.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Análisis de la Matriz de Confusión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Predicciones casi perfectas con solo 19 errores, mejorando significativamente respecto a otros modelos.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Importancia de Variables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Variables temporales, volumen y puertos son las más influyentes, con aportes clave de banderas TCP e IPs específicas.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92A4FA3-F107-487F-AE63-E445ED687327}"/>
              </a:ext>
            </a:extLst>
          </p:cNvPr>
          <p:cNvPicPr>
            <a:picLocks noGrp="1" noChangeAspect="1"/>
          </p:cNvPic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ConstrainedImage"/>
                    <p202:designTag name="ARCH:1:VSVAR" val="Large"/>
                  </p202:designTagLst>
                </p202:designPr>
              </p:ext>
            </p:extLst>
          </p:nvPr>
        </p:nvPicPr>
        <p:blipFill>
          <a:blip r:embed="rId3"/>
          <a:srcRect r="-1" b="2841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0702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BFF503-11EF-8131-4689-3C44BB49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Regresión Logística Multiclase: configuración, métricas y análisis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5FE00B-9491-D03B-3D28-E7CD2B217C2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Configuración del modelo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El modelo logistic regression multinomial usa solver saga y penalización l2 para alta dimensionalidad.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Resultados y métricas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El modelo alcanzó 98.62% de precisión con alto rendimiento en F1, precisión y recall macro.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Análisis de matriz de confusión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Predicciones correctas y errores se detallan para cada clase con tasas específicas de error.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300" b="1"/>
              <a:t>Interpretación y fortalezas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s-EC" sz="1300"/>
              <a:t>Coeficientes permiten interpretar impacto de features; modelo es rápido y altamente interpretable.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DAC7A24-6A51-4626-8925-8931884EB4B0}"/>
              </a:ext>
            </a:extLst>
          </p:cNvPr>
          <p:cNvPicPr>
            <a:picLocks noGrp="1" noChangeAspect="1"/>
          </p:cNvPic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ConstrainedImage"/>
                    <p202:designTag name="ARCH:1:VSVAR" val="Large"/>
                  </p202:designTagLst>
                </p202:designPr>
              </p:ext>
            </p:extLst>
          </p:nvPr>
        </p:nvPicPr>
        <p:blipFill>
          <a:blip r:embed="rId3"/>
          <a:srcRect l="1033" r="-2" b="-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1435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D1B1AA-EB26-778E-9BA8-0BEF1F644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es-EC" sz="6500"/>
              <a:t>Comparación experimental de modelos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3744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81C8C-6E96-9486-FCA2-916C657E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Análisis comparativo por métrica y clase individual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20FF18-E0B3-9836-D930-BDA6E129ED1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Precisión y F1-Score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Random Forest lidera con 99.95% de precisión y 0.9989 en F1-Score, destacando su alto rendimiento.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Errores Totales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Random Forest presenta el menor total de errores absolutos con 19, mostrando mayor fiabilidad.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Análisis de Clase Normal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Todos los modelos logran precisión y recall perfectos en la clase 'normal', con clasificación sin errores.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Desempeño por Clase Suspicious y Unknown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Random Forest supera en precisión y menor errores en clases 'suspicious' y 'unknown' comparado con otros modelos.</a:t>
            </a:r>
          </a:p>
        </p:txBody>
      </p:sp>
      <p:pic>
        <p:nvPicPr>
          <p:cNvPr id="8" name="Marcador de contenido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CFDAF65-F93E-F693-D716-DC5CD89659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11" y="2508818"/>
            <a:ext cx="5211762" cy="2582167"/>
          </a:xfrm>
        </p:spPr>
      </p:pic>
    </p:spTree>
    <p:extLst>
      <p:ext uri="{BB962C8B-B14F-4D97-AF65-F5344CB8AC3E}">
        <p14:creationId xmlns:p14="http://schemas.microsoft.com/office/powerpoint/2010/main" val="25278719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2D8EE2-9972-42B0-FE2C-3ED9FD696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es-EC" sz="6500"/>
              <a:t>Hallazgos clave y análisis crítico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224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FF2E95-606D-2DB2-5930-8D70D972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Direcciones IP y banderas TCP relevantes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6DE014-DDEA-4190-D2F2-5572EABA88A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IPs con Alta Importancia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Las IPs de la red OPENSTACK muestran tráfico mayormente normal, mientras que algunas IPs específicas son fuentes recurrentes de ataques.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Interpretación de IPs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La presencia de IPs comprometidas sugiere posibles botnets o ataques persistentes en la red.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Banderas TCP Clave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Flags TCP como AP.SF indican tráfico legítimo, mientras combinaciones inusuales pueden señalar ataques como SYN floods.</a:t>
            </a:r>
          </a:p>
        </p:txBody>
      </p:sp>
      <p:pic>
        <p:nvPicPr>
          <p:cNvPr id="5" name="Marcador de contenido 4" descr="Bandera de Panamá en un código binario de computadora que cae desde la parte superior y se desvanece.">
            <a:extLst>
              <a:ext uri="{FF2B5EF4-FFF2-40B4-BE49-F238E27FC236}">
                <a16:creationId xmlns:a16="http://schemas.microsoft.com/office/drawing/2014/main" id="{4E4D931C-377F-449B-88AF-BD08C5C412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0799" r="24195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95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EE7B4F-0058-CCF6-5235-981FAEA55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Hallazgos técnicos principales y del dominio</a:t>
            </a:r>
          </a:p>
        </p:txBody>
      </p:sp>
      <p:pic>
        <p:nvPicPr>
          <p:cNvPr id="5" name="Marcador de contenido 4" descr="101010 líneas de datos hasta el infinito">
            <a:extLst>
              <a:ext uri="{FF2B5EF4-FFF2-40B4-BE49-F238E27FC236}">
                <a16:creationId xmlns:a16="http://schemas.microsoft.com/office/drawing/2014/main" id="{47C938F7-150E-4C82-81C5-CBD60AF00A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8542" r="4639" b="3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4CB6B5-4689-53ED-56E9-50E7F0636F4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Manejo de Desbalance de Clases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Se usó class_weight='balanced' para lograr excelente rendimiento en la clase minoritaria con estratificación en train/test.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Alta Dimensionalidad y Rendimiento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Más de 17,000 features tras One-Hot Encoding no degradaron el rendimiento gracias a SVM, Random Forest y sparse matrix.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Patrones Temporales en Seguridad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Conexiones sospechosas duran 10 veces más, siendo duración el predictor más importante para discriminar clases.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Importancia de Flags TCP/IP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/>
              <a:t>Flags TCP/IP como AP.SF y APRSF diferencian protocolos y señalan ataques aportando 10-15% de importancia predictiva.</a:t>
            </a:r>
          </a:p>
        </p:txBody>
      </p:sp>
    </p:spTree>
    <p:extLst>
      <p:ext uri="{BB962C8B-B14F-4D97-AF65-F5344CB8AC3E}">
        <p14:creationId xmlns:p14="http://schemas.microsoft.com/office/powerpoint/2010/main" val="12363021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D795CC-0CD0-EB89-76ED-685DF95A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412998" cy="18394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C" sz="3100"/>
              <a:t>Limitaciones identificadas y retos en la clasificación</a:t>
            </a:r>
          </a:p>
        </p:txBody>
      </p:sp>
      <p:graphicFrame>
        <p:nvGraphicFramePr>
          <p:cNvPr id="4" name="Marcador de contenido 4">
            <a:extLst>
              <a:ext uri="{FF2B5EF4-FFF2-40B4-BE49-F238E27FC236}">
                <a16:creationId xmlns:a16="http://schemas.microsoft.com/office/drawing/2014/main" id="{F6F91CD4-0B87-4DC9-AB58-68983D5B5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12432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4632670" y="1014984"/>
          <a:ext cx="7029274" cy="5314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653550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A96452-FCFC-3A23-ED77-ED4C3F960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es-EC" sz="6500"/>
              <a:t>Conclusiones y recomendaciones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3016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C913AD-2E31-CB73-9EFB-76B9AC48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Comparación final de modelos y criterios de selección</a:t>
            </a:r>
          </a:p>
        </p:txBody>
      </p:sp>
      <p:pic>
        <p:nvPicPr>
          <p:cNvPr id="5" name="Marcador de contenido 4" descr="Mujeres de negocios construyendo una torre de carrera.">
            <a:extLst>
              <a:ext uri="{FF2B5EF4-FFF2-40B4-BE49-F238E27FC236}">
                <a16:creationId xmlns:a16="http://schemas.microsoft.com/office/drawing/2014/main" id="{6DFB67E9-6A5E-400E-A725-FF24328263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10499" b="1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6C5740-4C2A-48CC-6C66-ACE5F112849A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Precisión Global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 err="1"/>
              <a:t>Random</a:t>
            </a:r>
            <a:r>
              <a:rPr lang="es-EC" sz="1400" dirty="0"/>
              <a:t> Forest lidera con 99.95%, seguido por Árbol de Decisión y </a:t>
            </a:r>
            <a:r>
              <a:rPr lang="es-EC" sz="1400" dirty="0" err="1"/>
              <a:t>LinearSVC</a:t>
            </a:r>
            <a:r>
              <a:rPr lang="es-EC" sz="1400" dirty="0"/>
              <a:t> con alta precisión.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Interpretabilidad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Regresión Logística es más interpretable con coeficientes claros; Árbol de Decisión es visualmente sencillo.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Velocidades de Entrenamiento y Predicción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/>
              <a:t>Regresión Logística es más rápida en entrenamiento y predicción, mientras </a:t>
            </a:r>
            <a:r>
              <a:rPr lang="es-EC" sz="1400" dirty="0" err="1"/>
              <a:t>Random</a:t>
            </a:r>
            <a:r>
              <a:rPr lang="es-EC" sz="1400" dirty="0"/>
              <a:t> Forest es más lento pero robusto.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 dirty="0"/>
              <a:t>Robustez General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s-EC" sz="1400" dirty="0" err="1"/>
              <a:t>Random</a:t>
            </a:r>
            <a:r>
              <a:rPr lang="es-EC" sz="1400" dirty="0"/>
              <a:t> Forest destaca por su robustez general, siendo el modelo más confiable en diversas condiciones.</a:t>
            </a:r>
          </a:p>
        </p:txBody>
      </p:sp>
    </p:spTree>
    <p:extLst>
      <p:ext uri="{BB962C8B-B14F-4D97-AF65-F5344CB8AC3E}">
        <p14:creationId xmlns:p14="http://schemas.microsoft.com/office/powerpoint/2010/main" val="25494536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1B1CBD-FFDB-D1FF-7881-966DF9FF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Recomendaciones de implementación y métricas de éxito</a:t>
            </a:r>
          </a:p>
        </p:txBody>
      </p:sp>
      <p:pic>
        <p:nvPicPr>
          <p:cNvPr id="5" name="Marcador de contenido 4" descr="Conexiones de fondo abstracto digital con espacio de copia">
            <a:extLst>
              <a:ext uri="{FF2B5EF4-FFF2-40B4-BE49-F238E27FC236}">
                <a16:creationId xmlns:a16="http://schemas.microsoft.com/office/drawing/2014/main" id="{6ECC6F69-C835-42A8-9374-B1A6096D0D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8075" r="16501" b="-1"/>
          <a:stretch>
            <a:fillRect/>
          </a:stretch>
        </p:blipFill>
        <p:spPr>
          <a:xfrm>
            <a:off x="1" y="2613892"/>
            <a:ext cx="4946906" cy="36893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520021-1C99-5CC2-1795-A42EBED0CE2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641848" y="1014984"/>
            <a:ext cx="5889161" cy="5288267"/>
          </a:xfrm>
        </p:spPr>
        <p:txBody>
          <a:bodyPr>
            <a:normAutofit/>
          </a:bodyPr>
          <a:lstStyle/>
          <a:p>
            <a:r>
              <a:rPr lang="es-ES" sz="1400" dirty="0"/>
              <a:t>Sugerencias — claras y accionables</a:t>
            </a:r>
          </a:p>
          <a:p>
            <a:r>
              <a:rPr lang="es-ES" sz="1400" dirty="0"/>
              <a:t>1) Validar mejor antes de decidir Separar datos por tiempo o por “fuente” (por ejemplo, por equipo/cliente) para evitar fugas entre entrenamiento y prueba. Además de exactitud y F1, mirar curvas de precisión–recuperación y matrices de confusión para entender errores críticos.</a:t>
            </a:r>
          </a:p>
          <a:p>
            <a:r>
              <a:rPr lang="es-ES" sz="1400" dirty="0"/>
              <a:t>2) Atender el desbalance Dos caminos simples: ponderar más los casos raros o </a:t>
            </a:r>
            <a:r>
              <a:rPr lang="es-ES" sz="1400" dirty="0" err="1"/>
              <a:t>re-muestrear</a:t>
            </a:r>
            <a:r>
              <a:rPr lang="es-ES" sz="1400" dirty="0"/>
              <a:t> (equilibrar las clases). Luego, ajustar el umbral de decisión según el riesgo de cada tipo de error.</a:t>
            </a:r>
          </a:p>
          <a:p>
            <a:r>
              <a:rPr lang="es-ES" sz="1400" dirty="0"/>
              <a:t>3) Simplificar variables difíciles En lugar de convertir en cientos de columnas los campos con muchos valores (p. ej., direcciones o “</a:t>
            </a:r>
            <a:r>
              <a:rPr lang="es-ES" sz="1400" dirty="0" err="1"/>
              <a:t>flags</a:t>
            </a:r>
            <a:r>
              <a:rPr lang="es-ES" sz="1400" dirty="0"/>
              <a:t>”), agruparlos por familias o rangos (subredes, grupos de señales) o convertirlos a recuentos/frecuencias. Menos ruido, más estabilidad.</a:t>
            </a:r>
          </a:p>
        </p:txBody>
      </p:sp>
    </p:spTree>
    <p:extLst>
      <p:ext uri="{BB962C8B-B14F-4D97-AF65-F5344CB8AC3E}">
        <p14:creationId xmlns:p14="http://schemas.microsoft.com/office/powerpoint/2010/main" val="27859831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8599</Words>
  <Application>Microsoft Office PowerPoint</Application>
  <PresentationFormat>Panorámica</PresentationFormat>
  <Paragraphs>661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Arial</vt:lpstr>
      <vt:lpstr>Bierstadt</vt:lpstr>
      <vt:lpstr>Calibri</vt:lpstr>
      <vt:lpstr>Grandview Display</vt:lpstr>
      <vt:lpstr>DashVTI</vt:lpstr>
      <vt:lpstr>Presentación de PowerPoint</vt:lpstr>
      <vt:lpstr>Agenda del Proyecto</vt:lpstr>
      <vt:lpstr>Contexto y objetivo del proyecto</vt:lpstr>
      <vt:lpstr>Objetivo principal y descripción del dataset utilizado</vt:lpstr>
      <vt:lpstr>Distribución de clases y problemática de desbalance</vt:lpstr>
      <vt:lpstr>Análisis exploratorio de datos (EDA)</vt:lpstr>
      <vt:lpstr>Variables clave identificadas: numéricas y categóricas</vt:lpstr>
      <vt:lpstr>Hallazgos del análisis exploratorio y correlaciones importantes</vt:lpstr>
      <vt:lpstr>Dispersión por clase y observaciones de histogramas</vt:lpstr>
      <vt:lpstr>Preprocesamiento de datos y pipeline de transformación</vt:lpstr>
      <vt:lpstr>Pipeline de transformación y técnicas aplicadas</vt:lpstr>
      <vt:lpstr>Modelos implementados y resultados</vt:lpstr>
      <vt:lpstr>Árbol de Decisión: configuración, métricas y análisis</vt:lpstr>
      <vt:lpstr>Linear SVC: configuración, métricas y análisis</vt:lpstr>
      <vt:lpstr>Random Forest: configuración, métricas y análisis</vt:lpstr>
      <vt:lpstr>Regresión Logística Multiclase: configuración, métricas y análisis</vt:lpstr>
      <vt:lpstr>Comparación experimental de modelos</vt:lpstr>
      <vt:lpstr>Análisis comparativo por métrica y clase individual</vt:lpstr>
      <vt:lpstr>Hallazgos clave y análisis crítico</vt:lpstr>
      <vt:lpstr>Direcciones IP y banderas TCP relevantes</vt:lpstr>
      <vt:lpstr>Hallazgos técnicos principales y del dominio</vt:lpstr>
      <vt:lpstr>Limitaciones identificadas y retos en la clasificación</vt:lpstr>
      <vt:lpstr>Conclusiones y recomendaciones</vt:lpstr>
      <vt:lpstr>Comparación final de modelos y criterios de selección</vt:lpstr>
      <vt:lpstr>Recomendaciones de implementación y métricas de éxito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Gilbert</dc:creator>
  <cp:lastModifiedBy>Kevin Ube</cp:lastModifiedBy>
  <cp:revision>3</cp:revision>
  <dcterms:created xsi:type="dcterms:W3CDTF">2025-11-06T02:03:10Z</dcterms:created>
  <dcterms:modified xsi:type="dcterms:W3CDTF">2025-11-06T02:57:17Z</dcterms:modified>
</cp:coreProperties>
</file>